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2" r:id="rId5"/>
    <p:sldId id="8681" r:id="rId6"/>
    <p:sldId id="263" r:id="rId7"/>
    <p:sldId id="8663" r:id="rId8"/>
    <p:sldId id="8682" r:id="rId9"/>
    <p:sldId id="8684" r:id="rId10"/>
    <p:sldId id="264" r:id="rId11"/>
    <p:sldId id="8670" r:id="rId12"/>
    <p:sldId id="8685" r:id="rId13"/>
    <p:sldId id="8686" r:id="rId14"/>
    <p:sldId id="8687" r:id="rId15"/>
    <p:sldId id="265" r:id="rId16"/>
    <p:sldId id="8690" r:id="rId17"/>
    <p:sldId id="8692" r:id="rId18"/>
    <p:sldId id="8688" r:id="rId19"/>
    <p:sldId id="8691" r:id="rId20"/>
    <p:sldId id="8693" r:id="rId21"/>
    <p:sldId id="8679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401"/>
    <a:srgbClr val="212A39"/>
    <a:srgbClr val="34425A"/>
    <a:srgbClr val="465A7A"/>
    <a:srgbClr val="FFC637"/>
    <a:srgbClr val="DCA568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2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C94403-ED6A-4B07-A740-296B01E3AEC5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3E0F08-5CA5-4FF4-B957-98B30195255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16AF-E6BF-E321-2AFE-E273DCD0D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76F178-2F00-A1C4-065A-568FC2096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561858-DF01-0D38-906E-F61569AAF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80EA76-EE14-0A4A-9B3D-BE75D9E3E9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313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95CD-3861-7AA0-E649-2006CA74B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0D7B5E-504F-918E-5711-8E6838B7C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843814-3BDD-0FEC-1A83-F5631D766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E38A35-24D1-1267-1D06-7C59D892E3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6886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3E0F08-5CA5-4FF4-B957-98B301952557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40B6-7142-469B-9D69-1008601B55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2D74-9FC1-487E-8273-750E25A88F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0">
        <p14:doors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40B6-7142-469B-9D69-1008601B55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2D74-9FC1-487E-8273-750E25A88F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0">
        <p14:doors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40B6-7142-469B-9D69-1008601B55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2D74-9FC1-487E-8273-750E25A88F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0">
        <p14:doors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40B6-7142-469B-9D69-1008601B55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2D74-9FC1-487E-8273-750E25A88F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0">
        <p14:doors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40B6-7142-469B-9D69-1008601B55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2D74-9FC1-487E-8273-750E25A88F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0">
        <p14:doors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40B6-7142-469B-9D69-1008601B55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2D74-9FC1-487E-8273-750E25A88F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0">
        <p14:doors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40B6-7142-469B-9D69-1008601B55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2D74-9FC1-487E-8273-750E25A88F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0">
        <p14:doors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40B6-7142-469B-9D69-1008601B55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2D74-9FC1-487E-8273-750E25A88F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0">
        <p14:doors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40B6-7142-469B-9D69-1008601B55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2D74-9FC1-487E-8273-750E25A88F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0">
        <p14:doors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40B6-7142-469B-9D69-1008601B55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2D74-9FC1-487E-8273-750E25A88F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0">
        <p14:doors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40B6-7142-469B-9D69-1008601B55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2D74-9FC1-487E-8273-750E25A88F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0">
        <p14:doors dir="vert"/>
      </p:transition>
    </mc:Choice>
    <mc:Fallback xmlns=""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740B6-7142-469B-9D69-1008601B55D6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62D74-9FC1-487E-8273-750E25A88F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 advClick="0" advTm="0">
        <p14:doors dir="vert"/>
      </p:transition>
    </mc:Choice>
    <mc:Fallback xmlns="">
      <p:transition spd="slow"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zh.wikipedia.org/wiki/%E7%A9%BA%E6%B4%9E%E9%A8%8E%E5%A3%AB" TargetMode="External"/><Relationship Id="rId13" Type="http://schemas.openxmlformats.org/officeDocument/2006/relationships/hyperlink" Target="https://zh.wikipedia.org/wiki/%E8%AA%9E%E7%B3%BB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zh.wikipedia.org/wiki/%E7%B1%BB%E9%93%B6%E6%B2%B3%E6%88%98%E5%A3%AB%E6%81%B6%E9%AD%94%E5%9F%8E%E6%B8%B8%E6%88%8F" TargetMode="External"/><Relationship Id="rId12" Type="http://schemas.openxmlformats.org/officeDocument/2006/relationships/hyperlink" Target="https://zh.wikipedia.org/wiki/Steam" TargetMode="External"/><Relationship Id="rId17" Type="http://schemas.openxmlformats.org/officeDocument/2006/relationships/hyperlink" Target="https://zh.wikipedia.org/wiki/%E6%AD%90%E7%BE%8E" TargetMode="External"/><Relationship Id="rId2" Type="http://schemas.openxmlformats.org/officeDocument/2006/relationships/notesSlide" Target="../notesSlides/notesSlide4.xml"/><Relationship Id="rId16" Type="http://schemas.openxmlformats.org/officeDocument/2006/relationships/hyperlink" Target="https://zh.wikipedia.org/wiki/%E4%BA%9E%E6%B4%B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h.wikipedia.org/wiki/%E6%A8%B1%E6%A1%83%E6%B8%B8%E6%88%8F%E5%B7%A5%E4%BD%9C%E5%AE%A4" TargetMode="External"/><Relationship Id="rId11" Type="http://schemas.openxmlformats.org/officeDocument/2006/relationships/hyperlink" Target="https://zh.wikipedia.org/wiki/%E4%BB%BB%E5%A4%A9%E5%A0%82eShop" TargetMode="External"/><Relationship Id="rId5" Type="http://schemas.openxmlformats.org/officeDocument/2006/relationships/image" Target="../media/image12.jpeg"/><Relationship Id="rId15" Type="http://schemas.openxmlformats.org/officeDocument/2006/relationships/hyperlink" Target="https://zh.wikipedia.org/wiki/%E7%BF%BB%E8%AD%AF" TargetMode="External"/><Relationship Id="rId10" Type="http://schemas.openxmlformats.org/officeDocument/2006/relationships/hyperlink" Target="https://zh.wikipedia.org/wiki/%E6%B8%B8%E6%88%8F%E6%80%A7" TargetMode="External"/><Relationship Id="rId4" Type="http://schemas.openxmlformats.org/officeDocument/2006/relationships/image" Target="../media/image11.png"/><Relationship Id="rId9" Type="http://schemas.openxmlformats.org/officeDocument/2006/relationships/hyperlink" Target="https://zh.wikipedia.org/wiki/%E4%B8%96%E7%95%8C%E8%A7%80" TargetMode="External"/><Relationship Id="rId14" Type="http://schemas.openxmlformats.org/officeDocument/2006/relationships/hyperlink" Target="https://zh.wikipedia.org/wiki/%E7%B0%A1%E9%AB%94%E4%B8%AD%E6%96%87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exusmods.com/hollowknightsilksong/mods/10?tab=description" TargetMode="External"/><Relationship Id="rId5" Type="http://schemas.openxmlformats.org/officeDocument/2006/relationships/hyperlink" Target="https://github.com/Perfare/AssetStudio" TargetMode="Externa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6174" y="-2663826"/>
            <a:ext cx="11697656" cy="6472342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34250" y="3645670"/>
            <a:ext cx="8232214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经典综艺体简" panose="02010609000101010101" pitchFamily="49" charset="-122"/>
              </a:rPr>
              <a:t>“差评”的翻译：</a:t>
            </a:r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经典综艺体简" panose="02010609000101010101" pitchFamily="49" charset="-122"/>
              </a:rPr>
              <a:t> 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经典综艺体简" panose="02010609000101010101" pitchFamily="49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198882" y="4604037"/>
            <a:ext cx="7584020" cy="3051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ts val="1500"/>
              </a:lnSpc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《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空洞骑士：丝之歌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》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本地化问题如何影响玩家体验与游戏口碑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330071" y="4659437"/>
            <a:ext cx="3488576" cy="2507105"/>
            <a:chOff x="9330071" y="4659437"/>
            <a:chExt cx="3488576" cy="2507105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0823" y="5467285"/>
              <a:ext cx="1046894" cy="1134899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5824" y="4769755"/>
              <a:ext cx="1209792" cy="131149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34096" y="5441425"/>
              <a:ext cx="848991" cy="920360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9455" y="5693775"/>
              <a:ext cx="1046894" cy="1134899"/>
            </a:xfrm>
            <a:prstGeom prst="rect">
              <a:avLst/>
            </a:prstGeom>
          </p:spPr>
        </p:pic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68553" y="4659437"/>
              <a:ext cx="1046894" cy="1134899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3121" y="6031644"/>
              <a:ext cx="961649" cy="1042488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7428" y="6361785"/>
              <a:ext cx="723666" cy="784499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71753" y="6031643"/>
              <a:ext cx="1046894" cy="1134899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0071" y="6525256"/>
              <a:ext cx="449250" cy="487015"/>
            </a:xfrm>
            <a:prstGeom prst="rect">
              <a:avLst/>
            </a:prstGeom>
          </p:spPr>
        </p:pic>
      </p:grpSp>
      <p:sp>
        <p:nvSpPr>
          <p:cNvPr id="37" name="文本框 36"/>
          <p:cNvSpPr txBox="1"/>
          <p:nvPr/>
        </p:nvSpPr>
        <p:spPr>
          <a:xfrm>
            <a:off x="7939688" y="6609727"/>
            <a:ext cx="7048513" cy="2616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/>
            <a:r>
              <a:rPr lang="zh-CN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小组成员：冯子翔、方烨、顾雨威   时间：</a:t>
            </a:r>
            <a:r>
              <a:rPr lang="en-US" altLang="zh-CN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2025.12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27" y="0"/>
            <a:ext cx="4947334" cy="685800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0" y="2472122"/>
            <a:ext cx="5236485" cy="1426486"/>
            <a:chOff x="721519" y="924567"/>
            <a:chExt cx="2958243" cy="651419"/>
          </a:xfrm>
        </p:grpSpPr>
        <p:sp>
          <p:nvSpPr>
            <p:cNvPr id="9" name="Arrow: Pentagon 45"/>
            <p:cNvSpPr/>
            <p:nvPr/>
          </p:nvSpPr>
          <p:spPr bwMode="auto">
            <a:xfrm>
              <a:off x="947352" y="1004486"/>
              <a:ext cx="2732410" cy="571500"/>
            </a:xfrm>
            <a:prstGeom prst="homePlate">
              <a:avLst/>
            </a:prstGeom>
            <a:solidFill>
              <a:schemeClr val="tx1">
                <a:lumMod val="95000"/>
                <a:lumOff val="5000"/>
                <a:alpha val="14000"/>
              </a:schemeClr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Arrow: Pentagon 2"/>
            <p:cNvSpPr/>
            <p:nvPr/>
          </p:nvSpPr>
          <p:spPr bwMode="auto">
            <a:xfrm>
              <a:off x="721519" y="924567"/>
              <a:ext cx="2732410" cy="571500"/>
            </a:xfrm>
            <a:prstGeom prst="homePlate">
              <a:avLst/>
            </a:prstGeom>
            <a:solidFill>
              <a:srgbClr val="212A39"/>
            </a:solidFill>
            <a:ln w="19050">
              <a:noFill/>
              <a:round/>
            </a:ln>
          </p:spPr>
          <p:txBody>
            <a:bodyPr rot="0" spcFirstLastPara="0" vert="horz" wrap="square" lIns="91440" tIns="45720" rIns="91440" bIns="45720" anchor="ctr" anchorCtr="1" forceAA="0" compatLnSpc="1">
              <a:normAutofit/>
            </a:bodyPr>
            <a:lstStyle/>
            <a:p>
              <a:pPr algn="ctr"/>
              <a:r>
                <a:rPr lang="zh-CN" altLang="en-US" sz="4400" b="1" dirty="0">
                  <a:solidFill>
                    <a:schemeClr val="bg1"/>
                  </a:solidFill>
                </a:rPr>
                <a:t>目录</a:t>
              </a:r>
              <a:r>
                <a:rPr lang="en-US" altLang="zh-CN" sz="4400" b="1" dirty="0">
                  <a:solidFill>
                    <a:schemeClr val="bg1"/>
                  </a:solidFill>
                </a:rPr>
                <a:t>/CONTENT</a:t>
              </a:r>
            </a:p>
          </p:txBody>
        </p:sp>
      </p:grpSp>
      <p:sp>
        <p:nvSpPr>
          <p:cNvPr id="11" name="Diamond 27"/>
          <p:cNvSpPr/>
          <p:nvPr/>
        </p:nvSpPr>
        <p:spPr>
          <a:xfrm>
            <a:off x="5460924" y="4860168"/>
            <a:ext cx="926944" cy="926944"/>
          </a:xfrm>
          <a:prstGeom prst="diamond">
            <a:avLst/>
          </a:prstGeom>
          <a:solidFill>
            <a:srgbClr val="FFB4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12" name="Diamond 29"/>
          <p:cNvSpPr/>
          <p:nvPr/>
        </p:nvSpPr>
        <p:spPr>
          <a:xfrm>
            <a:off x="5460924" y="3555786"/>
            <a:ext cx="926944" cy="926944"/>
          </a:xfrm>
          <a:prstGeom prst="diamond">
            <a:avLst/>
          </a:prstGeom>
          <a:solidFill>
            <a:srgbClr val="212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13" name="Diamond 31"/>
          <p:cNvSpPr/>
          <p:nvPr/>
        </p:nvSpPr>
        <p:spPr>
          <a:xfrm>
            <a:off x="5460924" y="2251403"/>
            <a:ext cx="926944" cy="926944"/>
          </a:xfrm>
          <a:prstGeom prst="diamond">
            <a:avLst/>
          </a:prstGeom>
          <a:solidFill>
            <a:srgbClr val="FFB4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14" name="Diamond 33"/>
          <p:cNvSpPr/>
          <p:nvPr/>
        </p:nvSpPr>
        <p:spPr>
          <a:xfrm>
            <a:off x="5460928" y="947021"/>
            <a:ext cx="926944" cy="926944"/>
          </a:xfrm>
          <a:prstGeom prst="diamond">
            <a:avLst/>
          </a:prstGeom>
          <a:solidFill>
            <a:srgbClr val="212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470722" y="3747052"/>
            <a:ext cx="4247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游戏文本与评论的处理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470722" y="5031252"/>
            <a:ext cx="37890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分析与总结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470724" y="2405643"/>
            <a:ext cx="4654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游戏文本与评论的获取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289700" y="1070888"/>
            <a:ext cx="4151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游戏介绍与研究介绍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83087" cy="6858000"/>
          </a:xfrm>
          <a:prstGeom prst="rect">
            <a:avLst/>
          </a:prstGeom>
        </p:spPr>
      </p:pic>
      <p:sp>
        <p:nvSpPr>
          <p:cNvPr id="4" name="Diamond 33"/>
          <p:cNvSpPr/>
          <p:nvPr/>
        </p:nvSpPr>
        <p:spPr>
          <a:xfrm>
            <a:off x="5219682" y="1588778"/>
            <a:ext cx="1752636" cy="1752636"/>
          </a:xfrm>
          <a:prstGeom prst="diamond">
            <a:avLst/>
          </a:prstGeom>
          <a:solidFill>
            <a:srgbClr val="212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042662" y="3429000"/>
            <a:ext cx="4106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游戏介绍与研究介绍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367337" y="299321"/>
            <a:ext cx="4968234" cy="1242318"/>
            <a:chOff x="367337" y="299321"/>
            <a:chExt cx="4724896" cy="1242318"/>
          </a:xfrm>
        </p:grpSpPr>
        <p:sp>
          <p:nvSpPr>
            <p:cNvPr id="8" name="Diamond 33"/>
            <p:cNvSpPr/>
            <p:nvPr/>
          </p:nvSpPr>
          <p:spPr>
            <a:xfrm>
              <a:off x="367337" y="299321"/>
              <a:ext cx="926944" cy="926944"/>
            </a:xfrm>
            <a:prstGeom prst="diamond">
              <a:avLst/>
            </a:prstGeom>
            <a:solidFill>
              <a:srgbClr val="212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303194" y="464421"/>
              <a:ext cx="378903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游戏介绍与研究介绍</a:t>
              </a: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845" y="1356973"/>
            <a:ext cx="4113537" cy="522808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7268" y="1709539"/>
            <a:ext cx="6542203" cy="4738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dirty="0"/>
              <a:t>《</a:t>
            </a:r>
            <a:r>
              <a:rPr lang="zh-CN" altLang="en-US" b="1" dirty="0"/>
              <a:t>空洞骑士：丝之歌</a:t>
            </a:r>
            <a:r>
              <a:rPr lang="en-US" altLang="zh-CN" dirty="0"/>
              <a:t>》</a:t>
            </a:r>
            <a:r>
              <a:rPr lang="zh-CN" altLang="en-US" dirty="0"/>
              <a:t>（英语：</a:t>
            </a:r>
            <a:r>
              <a:rPr lang="en-US" altLang="zh-CN" i="1" dirty="0"/>
              <a:t>Hollow Knight: </a:t>
            </a:r>
            <a:r>
              <a:rPr lang="en-US" altLang="zh-CN" i="1" dirty="0" err="1"/>
              <a:t>Silksong</a:t>
            </a:r>
            <a:r>
              <a:rPr lang="zh-CN" altLang="en-US" dirty="0"/>
              <a:t>）是由澳洲的独立开发商</a:t>
            </a:r>
            <a:r>
              <a:rPr lang="zh-CN" altLang="en-US" dirty="0">
                <a:hlinkClick r:id="rId6" tooltip="樱桃游戏工作室"/>
              </a:rPr>
              <a:t>樱桃游戏工作室</a:t>
            </a:r>
            <a:r>
              <a:rPr lang="zh-CN" altLang="en-US" dirty="0"/>
              <a:t>制作与发行的</a:t>
            </a:r>
            <a:r>
              <a:rPr lang="zh-CN" altLang="en-US" dirty="0">
                <a:hlinkClick r:id="rId7" tooltip="类银河战士恶魔城游戏"/>
              </a:rPr>
              <a:t>类银河战士恶魔城游戏</a:t>
            </a:r>
            <a:r>
              <a:rPr lang="zh-CN" altLang="en-US" dirty="0"/>
              <a:t>，为</a:t>
            </a:r>
            <a:r>
              <a:rPr lang="en-US" altLang="zh-CN" dirty="0"/>
              <a:t>2017</a:t>
            </a:r>
            <a:r>
              <a:rPr lang="zh-CN" altLang="en-US" dirty="0"/>
              <a:t>年</a:t>
            </a:r>
            <a:r>
              <a:rPr lang="en-US" altLang="zh-CN" dirty="0"/>
              <a:t>《</a:t>
            </a:r>
            <a:r>
              <a:rPr lang="zh-CN" altLang="en-US" dirty="0">
                <a:hlinkClick r:id="rId8" tooltip="空洞骑士"/>
              </a:rPr>
              <a:t>空洞骑士</a:t>
            </a:r>
            <a:r>
              <a:rPr lang="en-US" altLang="zh-CN" dirty="0"/>
              <a:t>》</a:t>
            </a:r>
            <a:r>
              <a:rPr lang="zh-CN" altLang="en-US" dirty="0"/>
              <a:t>的续作。</a:t>
            </a:r>
            <a:endParaRPr lang="en-US" altLang="zh-CN" dirty="0"/>
          </a:p>
          <a:p>
            <a:pPr>
              <a:lnSpc>
                <a:spcPts val="2600"/>
              </a:lnSpc>
            </a:pPr>
            <a:endParaRPr lang="en-US" altLang="zh-CN" dirty="0"/>
          </a:p>
          <a:p>
            <a:pPr>
              <a:lnSpc>
                <a:spcPts val="2600"/>
              </a:lnSpc>
            </a:pPr>
            <a:r>
              <a:rPr lang="en-US" altLang="zh-CN" dirty="0"/>
              <a:t>《</a:t>
            </a:r>
            <a:r>
              <a:rPr lang="zh-CN" altLang="en-US" dirty="0"/>
              <a:t>空洞骑士：丝之歌</a:t>
            </a:r>
            <a:r>
              <a:rPr lang="en-US" altLang="zh-CN" dirty="0"/>
              <a:t>》</a:t>
            </a:r>
            <a:r>
              <a:rPr lang="zh-CN" altLang="en-US" dirty="0"/>
              <a:t>凭借其画面、配乐、剧情、</a:t>
            </a:r>
            <a:r>
              <a:rPr lang="zh-CN" altLang="en-US" dirty="0">
                <a:hlinkClick r:id="rId9" tooltip="世界观"/>
              </a:rPr>
              <a:t>世界观</a:t>
            </a:r>
            <a:r>
              <a:rPr lang="zh-CN" altLang="en-US" dirty="0"/>
              <a:t>设计和</a:t>
            </a:r>
            <a:r>
              <a:rPr lang="zh-CN" altLang="en-US" dirty="0">
                <a:hlinkClick r:id="rId10" tooltip="游戏性"/>
              </a:rPr>
              <a:t>游戏性</a:t>
            </a:r>
            <a:r>
              <a:rPr lang="zh-CN" altLang="en-US" dirty="0"/>
              <a:t>广受好评。游戏发售四小时后，本作在</a:t>
            </a:r>
            <a:r>
              <a:rPr lang="zh-CN" altLang="en-US" dirty="0">
                <a:hlinkClick r:id="rId11" tooltip="任天堂eShop"/>
              </a:rPr>
              <a:t>任天堂</a:t>
            </a:r>
            <a:r>
              <a:rPr lang="en-US" altLang="zh-CN" dirty="0">
                <a:hlinkClick r:id="rId11" tooltip="任天堂eShop"/>
              </a:rPr>
              <a:t>eShop</a:t>
            </a:r>
            <a:r>
              <a:rPr lang="zh-CN" altLang="en-US" dirty="0"/>
              <a:t>的销售排行为榜首。上市三天内，全平台玩家人数已突破</a:t>
            </a:r>
            <a:r>
              <a:rPr lang="en-US" altLang="zh-CN" dirty="0"/>
              <a:t>500</a:t>
            </a:r>
            <a:r>
              <a:rPr lang="zh-CN" altLang="en-US" dirty="0"/>
              <a:t>万名，其中</a:t>
            </a:r>
            <a:r>
              <a:rPr lang="en-US" altLang="zh-CN" dirty="0"/>
              <a:t>100</a:t>
            </a:r>
            <a:r>
              <a:rPr lang="zh-CN" altLang="en-US" dirty="0"/>
              <a:t>万人透过</a:t>
            </a:r>
            <a:r>
              <a:rPr lang="en-US" altLang="zh-CN" dirty="0"/>
              <a:t>Xbox Game Pass</a:t>
            </a:r>
            <a:r>
              <a:rPr lang="zh-CN" altLang="en-US" dirty="0"/>
              <a:t>游玩，而</a:t>
            </a:r>
            <a:r>
              <a:rPr lang="en-US" altLang="zh-CN" dirty="0"/>
              <a:t>300</a:t>
            </a:r>
            <a:r>
              <a:rPr lang="zh-CN" altLang="en-US" dirty="0"/>
              <a:t>万人从</a:t>
            </a:r>
            <a:r>
              <a:rPr lang="en-US" altLang="zh-CN" dirty="0">
                <a:hlinkClick r:id="rId12" tooltip="Steam"/>
              </a:rPr>
              <a:t>Steam</a:t>
            </a:r>
            <a:r>
              <a:rPr lang="zh-CN" altLang="en-US" dirty="0"/>
              <a:t>平台入手游戏。另在</a:t>
            </a:r>
            <a:r>
              <a:rPr lang="en-US" altLang="zh-CN" dirty="0"/>
              <a:t>Steam</a:t>
            </a:r>
            <a:r>
              <a:rPr lang="zh-CN" altLang="en-US" dirty="0"/>
              <a:t>的全球同时上线人数高达</a:t>
            </a:r>
            <a:r>
              <a:rPr lang="en-US" altLang="zh-CN" dirty="0"/>
              <a:t>53</a:t>
            </a:r>
            <a:r>
              <a:rPr lang="zh-CN" altLang="en-US" dirty="0"/>
              <a:t>万人，位列全站第三，全</a:t>
            </a:r>
            <a:r>
              <a:rPr lang="zh-CN" altLang="en-US" dirty="0">
                <a:hlinkClick r:id="rId13" tooltip="语系"/>
              </a:rPr>
              <a:t>语系</a:t>
            </a:r>
            <a:r>
              <a:rPr lang="zh-CN" altLang="en-US" dirty="0"/>
              <a:t>总好评率为</a:t>
            </a:r>
            <a:r>
              <a:rPr lang="en-US" altLang="zh-CN" dirty="0"/>
              <a:t>92%</a:t>
            </a:r>
            <a:r>
              <a:rPr lang="zh-CN" altLang="en-US" dirty="0"/>
              <a:t>，显示为“特别好评”；而上市一周后，好评率下降至</a:t>
            </a:r>
            <a:r>
              <a:rPr lang="en-US" altLang="zh-CN" dirty="0"/>
              <a:t>77%</a:t>
            </a:r>
            <a:r>
              <a:rPr lang="zh-CN" altLang="en-US" dirty="0"/>
              <a:t>，显示为“多半好评”。后因本作游戏难度曲线设计较高、游戏内文字的</a:t>
            </a:r>
            <a:r>
              <a:rPr lang="zh-CN" altLang="en-US" dirty="0">
                <a:hlinkClick r:id="rId14" tooltip="简体中文"/>
              </a:rPr>
              <a:t>简体中文</a:t>
            </a:r>
            <a:r>
              <a:rPr lang="zh-CN" altLang="en-US" dirty="0">
                <a:hlinkClick r:id="rId15" tooltip="翻译"/>
              </a:rPr>
              <a:t>翻译</a:t>
            </a:r>
            <a:r>
              <a:rPr lang="zh-CN" altLang="en-US" dirty="0"/>
              <a:t>不佳等问题，导致</a:t>
            </a:r>
            <a:r>
              <a:rPr lang="zh-CN" altLang="en-US" dirty="0">
                <a:hlinkClick r:id="rId16" tooltip="亚洲"/>
              </a:rPr>
              <a:t>亚洲</a:t>
            </a:r>
            <a:r>
              <a:rPr lang="zh-CN" altLang="en-US" dirty="0"/>
              <a:t>地区的评价仅</a:t>
            </a:r>
            <a:r>
              <a:rPr lang="en-US" altLang="zh-CN" dirty="0"/>
              <a:t>7</a:t>
            </a:r>
            <a:r>
              <a:rPr lang="zh-CN" altLang="en-US" dirty="0"/>
              <a:t>成好评；另在</a:t>
            </a:r>
            <a:r>
              <a:rPr lang="zh-CN" altLang="en-US" dirty="0">
                <a:hlinkClick r:id="rId17" tooltip="欧美"/>
              </a:rPr>
              <a:t>欧美</a:t>
            </a:r>
            <a:r>
              <a:rPr lang="zh-CN" altLang="en-US" dirty="0"/>
              <a:t>地区各语系的好评仍维持</a:t>
            </a:r>
            <a:r>
              <a:rPr lang="en-US" altLang="zh-CN" dirty="0"/>
              <a:t>90%</a:t>
            </a:r>
            <a:r>
              <a:rPr lang="zh-CN" altLang="en-US" dirty="0"/>
              <a:t>以上。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367337" y="299321"/>
            <a:ext cx="4968234" cy="1242318"/>
            <a:chOff x="367337" y="299321"/>
            <a:chExt cx="4724896" cy="1242318"/>
          </a:xfrm>
        </p:grpSpPr>
        <p:sp>
          <p:nvSpPr>
            <p:cNvPr id="8" name="Diamond 33"/>
            <p:cNvSpPr/>
            <p:nvPr/>
          </p:nvSpPr>
          <p:spPr>
            <a:xfrm>
              <a:off x="367337" y="299321"/>
              <a:ext cx="926944" cy="926944"/>
            </a:xfrm>
            <a:prstGeom prst="diamond">
              <a:avLst/>
            </a:prstGeom>
            <a:solidFill>
              <a:srgbClr val="212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303194" y="464421"/>
              <a:ext cx="378903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游戏介绍与研究介绍</a:t>
              </a: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845" y="1356973"/>
            <a:ext cx="4113537" cy="522808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90708" y="2738500"/>
            <a:ext cx="6542203" cy="1232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2400" dirty="0"/>
              <a:t>本研究将尽量超越“翻译不好”的表面结论，深入揭示翻译问题具体不好在哪里，以及它如何引发玩家的特定负面情绪。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2830" y="1577745"/>
            <a:ext cx="2620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研究介绍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83087" cy="6858000"/>
          </a:xfrm>
          <a:prstGeom prst="rect">
            <a:avLst/>
          </a:prstGeom>
        </p:spPr>
      </p:pic>
      <p:sp>
        <p:nvSpPr>
          <p:cNvPr id="4" name="Diamond 33"/>
          <p:cNvSpPr/>
          <p:nvPr/>
        </p:nvSpPr>
        <p:spPr>
          <a:xfrm>
            <a:off x="5219682" y="1588778"/>
            <a:ext cx="1752636" cy="1752636"/>
          </a:xfrm>
          <a:prstGeom prst="diamond">
            <a:avLst/>
          </a:prstGeom>
          <a:solidFill>
            <a:srgbClr val="212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824140" y="3429000"/>
            <a:ext cx="4543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游戏文本与评论的获取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367336" y="299321"/>
            <a:ext cx="5556856" cy="1254265"/>
            <a:chOff x="367337" y="299321"/>
            <a:chExt cx="4638754" cy="1254265"/>
          </a:xfrm>
        </p:grpSpPr>
        <p:sp>
          <p:nvSpPr>
            <p:cNvPr id="8" name="Diamond 33"/>
            <p:cNvSpPr/>
            <p:nvPr/>
          </p:nvSpPr>
          <p:spPr>
            <a:xfrm>
              <a:off x="367337" y="299321"/>
              <a:ext cx="842274" cy="926944"/>
            </a:xfrm>
            <a:prstGeom prst="diamond">
              <a:avLst/>
            </a:prstGeom>
            <a:solidFill>
              <a:srgbClr val="212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217052" y="476368"/>
              <a:ext cx="378903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游戏文本与评论的获取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037173" y="1840289"/>
            <a:ext cx="2909733" cy="4135844"/>
            <a:chOff x="1037173" y="1840289"/>
            <a:chExt cx="2909733" cy="4135844"/>
          </a:xfrm>
        </p:grpSpPr>
        <p:grpSp>
          <p:nvGrpSpPr>
            <p:cNvPr id="53" name="íṥļiḋè"/>
            <p:cNvGrpSpPr/>
            <p:nvPr/>
          </p:nvGrpSpPr>
          <p:grpSpPr>
            <a:xfrm>
              <a:off x="1037173" y="1840289"/>
              <a:ext cx="2909733" cy="4135844"/>
              <a:chOff x="738726" y="1976339"/>
              <a:chExt cx="2415941" cy="3433977"/>
            </a:xfrm>
          </p:grpSpPr>
          <p:sp>
            <p:nvSpPr>
              <p:cNvPr id="55" name="ïṧļîdê"/>
              <p:cNvSpPr/>
              <p:nvPr/>
            </p:nvSpPr>
            <p:spPr bwMode="auto">
              <a:xfrm>
                <a:off x="738726" y="1976339"/>
                <a:ext cx="2415941" cy="3433977"/>
              </a:xfrm>
              <a:custGeom>
                <a:avLst/>
                <a:gdLst>
                  <a:gd name="T0" fmla="*/ 2271713 w 21600"/>
                  <a:gd name="T1" fmla="*/ 3620294 h 21600"/>
                  <a:gd name="T2" fmla="*/ 2271713 w 21600"/>
                  <a:gd name="T3" fmla="*/ 3620294 h 21600"/>
                  <a:gd name="T4" fmla="*/ 2271713 w 21600"/>
                  <a:gd name="T5" fmla="*/ 3620294 h 21600"/>
                  <a:gd name="T6" fmla="*/ 2271713 w 21600"/>
                  <a:gd name="T7" fmla="*/ 362029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599"/>
                    </a:lnTo>
                    <a:lnTo>
                      <a:pt x="0" y="21599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chemeClr val="bg2">
                    <a:lumMod val="75000"/>
                  </a:schemeClr>
                </a:solidFill>
                <a:prstDash val="sysDash"/>
                <a:miter lim="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56" name="ïS1iḍê"/>
              <p:cNvSpPr/>
              <p:nvPr/>
            </p:nvSpPr>
            <p:spPr bwMode="auto">
              <a:xfrm>
                <a:off x="745894" y="4291825"/>
                <a:ext cx="1688289" cy="1114270"/>
              </a:xfrm>
              <a:custGeom>
                <a:avLst/>
                <a:gdLst>
                  <a:gd name="T0" fmla="*/ 1587500 w 21600"/>
                  <a:gd name="T1" fmla="*/ 1047750 h 21600"/>
                  <a:gd name="T2" fmla="*/ 1587500 w 21600"/>
                  <a:gd name="T3" fmla="*/ 1047750 h 21600"/>
                  <a:gd name="T4" fmla="*/ 1587500 w 21600"/>
                  <a:gd name="T5" fmla="*/ 1047750 h 21600"/>
                  <a:gd name="T6" fmla="*/ 1587500 w 21600"/>
                  <a:gd name="T7" fmla="*/ 1047750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12216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12A39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57" name="îs1îḍê"/>
              <p:cNvSpPr/>
              <p:nvPr/>
            </p:nvSpPr>
            <p:spPr bwMode="auto">
              <a:xfrm flipH="1">
                <a:off x="738726" y="3815728"/>
                <a:ext cx="2415941" cy="1594587"/>
              </a:xfrm>
              <a:custGeom>
                <a:avLst/>
                <a:gdLst>
                  <a:gd name="T0" fmla="*/ 2271713 w 21600"/>
                  <a:gd name="T1" fmla="*/ 1499394 h 21600"/>
                  <a:gd name="T2" fmla="*/ 2271713 w 21600"/>
                  <a:gd name="T3" fmla="*/ 1499394 h 21600"/>
                  <a:gd name="T4" fmla="*/ 2271713 w 21600"/>
                  <a:gd name="T5" fmla="*/ 1499394 h 21600"/>
                  <a:gd name="T6" fmla="*/ 2271713 w 21600"/>
                  <a:gd name="T7" fmla="*/ 149939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1221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4425A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</p:grpSp>
        <p:sp>
          <p:nvSpPr>
            <p:cNvPr id="54" name="文本框 53"/>
            <p:cNvSpPr txBox="1"/>
            <p:nvPr/>
          </p:nvSpPr>
          <p:spPr>
            <a:xfrm>
              <a:off x="1171822" y="2854964"/>
              <a:ext cx="2586078" cy="134485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ts val="2000"/>
                </a:lnSpc>
              </a:pPr>
              <a:r>
                <a:rPr lang="zh-CN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对于游戏内的文本，使用</a:t>
              </a:r>
              <a:r>
                <a:rPr lang="en-US" altLang="zh-C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hlinkClick r:id="rId5"/>
                </a:rPr>
                <a:t>AssetStudioGUI</a:t>
              </a:r>
              <a:r>
                <a:rPr lang="zh-CN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进行提取。提取出的文本为加密状态，需使用</a:t>
              </a: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n</a:t>
              </a:r>
              <a:r>
                <a:rPr lang="zh-CN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网下载的工具</a:t>
              </a:r>
              <a:r>
                <a:rPr lang="en-US" altLang="zh-C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hlinkClick r:id="rId6"/>
                </a:rPr>
                <a:t>HollowKnight_TextAssetDecryptor</a:t>
              </a:r>
              <a:r>
                <a:rPr lang="zh-CN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进行解密</a:t>
              </a:r>
              <a:endPara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7384" y="129638"/>
            <a:ext cx="6155703" cy="316972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7383" y="3429000"/>
            <a:ext cx="6155703" cy="334716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26681" y="1994734"/>
            <a:ext cx="2749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游戏文本的获取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367336" y="299321"/>
            <a:ext cx="5307599" cy="1248302"/>
            <a:chOff x="367337" y="299321"/>
            <a:chExt cx="4856872" cy="1248302"/>
          </a:xfrm>
        </p:grpSpPr>
        <p:sp>
          <p:nvSpPr>
            <p:cNvPr id="8" name="Diamond 33"/>
            <p:cNvSpPr/>
            <p:nvPr/>
          </p:nvSpPr>
          <p:spPr>
            <a:xfrm>
              <a:off x="367337" y="299321"/>
              <a:ext cx="926944" cy="926944"/>
            </a:xfrm>
            <a:prstGeom prst="diamond">
              <a:avLst/>
            </a:prstGeom>
            <a:solidFill>
              <a:srgbClr val="212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303195" y="470405"/>
              <a:ext cx="392101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游戏文本与评论的获取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1037173" y="1840289"/>
            <a:ext cx="2909733" cy="4135844"/>
            <a:chOff x="1037173" y="1840289"/>
            <a:chExt cx="2909733" cy="4135844"/>
          </a:xfrm>
        </p:grpSpPr>
        <p:grpSp>
          <p:nvGrpSpPr>
            <p:cNvPr id="53" name="íṥļiḋè"/>
            <p:cNvGrpSpPr/>
            <p:nvPr/>
          </p:nvGrpSpPr>
          <p:grpSpPr>
            <a:xfrm>
              <a:off x="1037173" y="1840289"/>
              <a:ext cx="2909733" cy="4135844"/>
              <a:chOff x="738726" y="1976339"/>
              <a:chExt cx="2415941" cy="3433977"/>
            </a:xfrm>
          </p:grpSpPr>
          <p:sp>
            <p:nvSpPr>
              <p:cNvPr id="55" name="ïṧļîdê"/>
              <p:cNvSpPr/>
              <p:nvPr/>
            </p:nvSpPr>
            <p:spPr bwMode="auto">
              <a:xfrm>
                <a:off x="738726" y="1976339"/>
                <a:ext cx="2415941" cy="3433977"/>
              </a:xfrm>
              <a:custGeom>
                <a:avLst/>
                <a:gdLst>
                  <a:gd name="T0" fmla="*/ 2271713 w 21600"/>
                  <a:gd name="T1" fmla="*/ 3620294 h 21600"/>
                  <a:gd name="T2" fmla="*/ 2271713 w 21600"/>
                  <a:gd name="T3" fmla="*/ 3620294 h 21600"/>
                  <a:gd name="T4" fmla="*/ 2271713 w 21600"/>
                  <a:gd name="T5" fmla="*/ 3620294 h 21600"/>
                  <a:gd name="T6" fmla="*/ 2271713 w 21600"/>
                  <a:gd name="T7" fmla="*/ 362029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599"/>
                    </a:lnTo>
                    <a:lnTo>
                      <a:pt x="0" y="21599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chemeClr val="bg2">
                    <a:lumMod val="75000"/>
                  </a:schemeClr>
                </a:solidFill>
                <a:prstDash val="sysDash"/>
                <a:miter lim="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56" name="ïS1iḍê"/>
              <p:cNvSpPr/>
              <p:nvPr/>
            </p:nvSpPr>
            <p:spPr bwMode="auto">
              <a:xfrm>
                <a:off x="745894" y="4291825"/>
                <a:ext cx="1688289" cy="1114270"/>
              </a:xfrm>
              <a:custGeom>
                <a:avLst/>
                <a:gdLst>
                  <a:gd name="T0" fmla="*/ 1587500 w 21600"/>
                  <a:gd name="T1" fmla="*/ 1047750 h 21600"/>
                  <a:gd name="T2" fmla="*/ 1587500 w 21600"/>
                  <a:gd name="T3" fmla="*/ 1047750 h 21600"/>
                  <a:gd name="T4" fmla="*/ 1587500 w 21600"/>
                  <a:gd name="T5" fmla="*/ 1047750 h 21600"/>
                  <a:gd name="T6" fmla="*/ 1587500 w 21600"/>
                  <a:gd name="T7" fmla="*/ 1047750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12216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12A39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57" name="îs1îḍê"/>
              <p:cNvSpPr/>
              <p:nvPr/>
            </p:nvSpPr>
            <p:spPr bwMode="auto">
              <a:xfrm flipH="1">
                <a:off x="738726" y="3815728"/>
                <a:ext cx="2415941" cy="1594587"/>
              </a:xfrm>
              <a:custGeom>
                <a:avLst/>
                <a:gdLst>
                  <a:gd name="T0" fmla="*/ 2271713 w 21600"/>
                  <a:gd name="T1" fmla="*/ 1499394 h 21600"/>
                  <a:gd name="T2" fmla="*/ 2271713 w 21600"/>
                  <a:gd name="T3" fmla="*/ 1499394 h 21600"/>
                  <a:gd name="T4" fmla="*/ 2271713 w 21600"/>
                  <a:gd name="T5" fmla="*/ 1499394 h 21600"/>
                  <a:gd name="T6" fmla="*/ 2271713 w 21600"/>
                  <a:gd name="T7" fmla="*/ 149939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1221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4425A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59" name="ïSḻiḑé"/>
              <p:cNvSpPr/>
              <p:nvPr/>
            </p:nvSpPr>
            <p:spPr bwMode="auto">
              <a:xfrm>
                <a:off x="952202" y="2237514"/>
                <a:ext cx="1540866" cy="32415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dist" defTabSz="584200">
                  <a:defRPr/>
                </a:pPr>
                <a:r>
                  <a:rPr lang="zh-CN" altLang="en-US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游戏评论的获取</a:t>
                </a:r>
                <a:endParaRPr 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54" name="文本框 53"/>
            <p:cNvSpPr txBox="1"/>
            <p:nvPr/>
          </p:nvSpPr>
          <p:spPr>
            <a:xfrm>
              <a:off x="1183242" y="2940795"/>
              <a:ext cx="2586078" cy="57541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ts val="2000"/>
                </a:lnSpc>
              </a:pP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 </a:t>
              </a:r>
              <a:r>
                <a:rPr lang="zh-CN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使用</a:t>
              </a: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python</a:t>
              </a:r>
              <a:r>
                <a:rPr lang="zh-CN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爬取</a:t>
              </a: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steam</a:t>
              </a:r>
              <a:r>
                <a:rPr lang="zh-CN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评论，并通过关键词删选出有关翻译的评论</a:t>
              </a:r>
              <a:endParaRPr lang="en-US" altLang="zh-CN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1100" y="1840289"/>
            <a:ext cx="7807992" cy="4245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83087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235" y="759907"/>
            <a:ext cx="11651530" cy="600917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9364" y="301658"/>
            <a:ext cx="3082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代码所爬取的中文差评评论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83087" cy="6858000"/>
          </a:xfrm>
          <a:prstGeom prst="rect">
            <a:avLst/>
          </a:prstGeom>
        </p:spPr>
      </p:pic>
      <p:sp>
        <p:nvSpPr>
          <p:cNvPr id="4" name="Diamond 33"/>
          <p:cNvSpPr/>
          <p:nvPr/>
        </p:nvSpPr>
        <p:spPr>
          <a:xfrm>
            <a:off x="5219682" y="1588778"/>
            <a:ext cx="1752636" cy="1752636"/>
          </a:xfrm>
          <a:prstGeom prst="diamond">
            <a:avLst/>
          </a:prstGeom>
          <a:solidFill>
            <a:srgbClr val="212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908981" y="3457669"/>
            <a:ext cx="4374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游戏文本与评论的处理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367337" y="299321"/>
            <a:ext cx="5401867" cy="926944"/>
            <a:chOff x="367337" y="299321"/>
            <a:chExt cx="5401867" cy="926944"/>
          </a:xfrm>
        </p:grpSpPr>
        <p:sp>
          <p:nvSpPr>
            <p:cNvPr id="8" name="Diamond 33"/>
            <p:cNvSpPr/>
            <p:nvPr/>
          </p:nvSpPr>
          <p:spPr>
            <a:xfrm>
              <a:off x="367337" y="299321"/>
              <a:ext cx="926944" cy="926944"/>
            </a:xfrm>
            <a:prstGeom prst="diamond">
              <a:avLst/>
            </a:prstGeom>
            <a:solidFill>
              <a:srgbClr val="212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303194" y="464421"/>
              <a:ext cx="44660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游戏文本与评论的处理</a:t>
              </a:r>
            </a:p>
          </p:txBody>
        </p:sp>
      </p:grpSp>
      <p:sp>
        <p:nvSpPr>
          <p:cNvPr id="7" name="Isosceles Triangle 2"/>
          <p:cNvSpPr/>
          <p:nvPr/>
        </p:nvSpPr>
        <p:spPr>
          <a:xfrm>
            <a:off x="1121575" y="2208836"/>
            <a:ext cx="3187886" cy="3004187"/>
          </a:xfrm>
          <a:prstGeom prst="triangle">
            <a:avLst/>
          </a:prstGeom>
          <a:solidFill>
            <a:schemeClr val="bg1"/>
          </a:solidFill>
          <a:ln>
            <a:noFill/>
          </a:ln>
          <a:effectLst>
            <a:outerShdw blurRad="76200" dist="127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5" dirty="0"/>
          </a:p>
        </p:txBody>
      </p:sp>
      <p:grpSp>
        <p:nvGrpSpPr>
          <p:cNvPr id="10" name="组合 9"/>
          <p:cNvGrpSpPr/>
          <p:nvPr/>
        </p:nvGrpSpPr>
        <p:grpSpPr>
          <a:xfrm>
            <a:off x="1612097" y="2208837"/>
            <a:ext cx="2206838" cy="1737975"/>
            <a:chOff x="1699624" y="1384077"/>
            <a:chExt cx="2327524" cy="1833021"/>
          </a:xfrm>
        </p:grpSpPr>
        <p:sp>
          <p:nvSpPr>
            <p:cNvPr id="12" name="Isosceles Triangle 3"/>
            <p:cNvSpPr/>
            <p:nvPr/>
          </p:nvSpPr>
          <p:spPr>
            <a:xfrm flipV="1">
              <a:off x="3809012" y="3029048"/>
              <a:ext cx="218136" cy="188050"/>
            </a:xfrm>
            <a:prstGeom prst="triangle">
              <a:avLst/>
            </a:prstGeom>
            <a:solidFill>
              <a:schemeClr val="bg1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/>
            </a:p>
          </p:txBody>
        </p:sp>
        <p:sp>
          <p:nvSpPr>
            <p:cNvPr id="13" name="Isosceles Triangle 11"/>
            <p:cNvSpPr/>
            <p:nvPr/>
          </p:nvSpPr>
          <p:spPr>
            <a:xfrm flipV="1">
              <a:off x="1699624" y="3029047"/>
              <a:ext cx="218136" cy="188050"/>
            </a:xfrm>
            <a:prstGeom prst="triangle">
              <a:avLst/>
            </a:prstGeom>
            <a:solidFill>
              <a:schemeClr val="bg1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/>
            </a:p>
          </p:txBody>
        </p:sp>
        <p:sp>
          <p:nvSpPr>
            <p:cNvPr id="14" name="Isosceles Triangle 7"/>
            <p:cNvSpPr/>
            <p:nvPr/>
          </p:nvSpPr>
          <p:spPr>
            <a:xfrm>
              <a:off x="1699624" y="1384077"/>
              <a:ext cx="2327522" cy="1644972"/>
            </a:xfrm>
            <a:prstGeom prst="triangle">
              <a:avLst/>
            </a:prstGeom>
            <a:solidFill>
              <a:srgbClr val="465A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796819" y="3946811"/>
            <a:ext cx="1967403" cy="844660"/>
            <a:chOff x="2661872" y="1947672"/>
            <a:chExt cx="2901474" cy="890901"/>
          </a:xfrm>
        </p:grpSpPr>
        <p:sp>
          <p:nvSpPr>
            <p:cNvPr id="26" name="Rectangle 42"/>
            <p:cNvSpPr/>
            <p:nvPr/>
          </p:nvSpPr>
          <p:spPr>
            <a:xfrm flipH="1">
              <a:off x="2661872" y="2248920"/>
              <a:ext cx="2901474" cy="589653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86694" tIns="0" rIns="86694" bIns="0" rtlCol="0" anchor="t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调用</a:t>
              </a:r>
              <a:r>
                <a:rPr lang="en-US" altLang="zh-CN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deepseek</a:t>
              </a: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的</a:t>
              </a:r>
              <a:r>
                <a:rPr lang="en-US" altLang="zh-CN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api</a:t>
              </a: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读取本地提取的游戏文本，结合第二版和英文原文对第一版翻译进行评价，并对翻译问题进行分类，最终形成</a:t>
              </a:r>
              <a:r>
                <a:rPr lang="en-US" altLang="zh-CN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json</a:t>
              </a: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格式的文件</a:t>
              </a:r>
            </a:p>
          </p:txBody>
        </p:sp>
        <p:sp>
          <p:nvSpPr>
            <p:cNvPr id="27" name="Rectangle 42"/>
            <p:cNvSpPr/>
            <p:nvPr/>
          </p:nvSpPr>
          <p:spPr>
            <a:xfrm flipH="1">
              <a:off x="2661872" y="1947672"/>
              <a:ext cx="2568733" cy="322237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86694" tIns="0" rIns="86694" bIns="0" rtlCol="0" anchor="t"/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游戏文本的处理</a:t>
              </a:r>
              <a:endPara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178" y="1762812"/>
            <a:ext cx="7688910" cy="46307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841"/>
            <a:ext cx="12183087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85394" y="377742"/>
            <a:ext cx="3082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JSON</a:t>
            </a:r>
            <a:r>
              <a:rPr lang="zh-CN" altLang="en-US" b="1" dirty="0"/>
              <a:t>格式展示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1520" y="1414179"/>
            <a:ext cx="6881567" cy="470063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5394" y="1233398"/>
            <a:ext cx="4939646" cy="5062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{</a:t>
            </a:r>
          </a:p>
          <a:p>
            <a:r>
              <a:rPr lang="en-US" altLang="zh-CN" dirty="0"/>
              <a:t>  "</a:t>
            </a:r>
            <a:r>
              <a:rPr lang="en-US" altLang="zh-CN" dirty="0" err="1"/>
              <a:t>overall_comment</a:t>
            </a:r>
            <a:r>
              <a:rPr lang="en-US" altLang="zh-CN" dirty="0"/>
              <a:t>": "</a:t>
            </a:r>
            <a:r>
              <a:rPr lang="zh-CN" altLang="en-US" dirty="0"/>
              <a:t>对这一条第一版翻译的简要总体评价（</a:t>
            </a:r>
            <a:r>
              <a:rPr lang="en-US" altLang="zh-CN" dirty="0"/>
              <a:t>1-3 </a:t>
            </a:r>
            <a:r>
              <a:rPr lang="zh-CN" altLang="en-US" dirty="0"/>
              <a:t>句）</a:t>
            </a:r>
            <a:r>
              <a:rPr lang="en-US" altLang="zh-CN" dirty="0"/>
              <a:t>",</a:t>
            </a:r>
            <a:endParaRPr lang="zh-CN" altLang="en-US" dirty="0"/>
          </a:p>
          <a:p>
            <a:r>
              <a:rPr lang="zh-CN" altLang="en-US" dirty="0"/>
              <a:t>  </a:t>
            </a:r>
            <a:r>
              <a:rPr lang="en-US" altLang="zh-CN" dirty="0"/>
              <a:t>"issues": [</a:t>
            </a:r>
          </a:p>
          <a:p>
            <a:r>
              <a:rPr lang="en-US" altLang="zh-CN" dirty="0"/>
              <a:t>    {</a:t>
            </a:r>
          </a:p>
          <a:p>
            <a:r>
              <a:rPr lang="en-US" altLang="zh-CN" dirty="0"/>
              <a:t>      "type": "</a:t>
            </a:r>
            <a:r>
              <a:rPr lang="zh-CN" altLang="en-US" dirty="0"/>
              <a:t>错误类型</a:t>
            </a:r>
            <a:r>
              <a:rPr lang="en-US" altLang="zh-CN" dirty="0"/>
              <a:t>",</a:t>
            </a:r>
            <a:endParaRPr lang="zh-CN" altLang="en-US" dirty="0"/>
          </a:p>
          <a:p>
            <a:r>
              <a:rPr lang="zh-CN" altLang="en-US" dirty="0"/>
              <a:t>      </a:t>
            </a:r>
            <a:r>
              <a:rPr lang="en-US" altLang="zh-CN" dirty="0"/>
              <a:t>"</a:t>
            </a:r>
            <a:r>
              <a:rPr lang="en-US" altLang="zh-CN" dirty="0" err="1"/>
              <a:t>source_span</a:t>
            </a:r>
            <a:r>
              <a:rPr lang="en-US" altLang="zh-CN" dirty="0"/>
              <a:t>": "</a:t>
            </a:r>
            <a:r>
              <a:rPr lang="zh-CN" altLang="en-US" dirty="0"/>
              <a:t>对应的英文片段（可包含标签）</a:t>
            </a:r>
            <a:r>
              <a:rPr lang="en-US" altLang="zh-CN" dirty="0"/>
              <a:t>",</a:t>
            </a:r>
            <a:endParaRPr lang="zh-CN" altLang="en-US" dirty="0"/>
          </a:p>
          <a:p>
            <a:r>
              <a:rPr lang="zh-CN" altLang="en-US" dirty="0"/>
              <a:t>      </a:t>
            </a:r>
            <a:r>
              <a:rPr lang="en-US" altLang="zh-CN" dirty="0"/>
              <a:t>"zh_v1_span": "</a:t>
            </a:r>
            <a:r>
              <a:rPr lang="zh-CN" altLang="en-US" dirty="0"/>
              <a:t>第一版中文中的相关片段（可包含标签）</a:t>
            </a:r>
            <a:r>
              <a:rPr lang="en-US" altLang="zh-CN" dirty="0"/>
              <a:t>",</a:t>
            </a:r>
            <a:endParaRPr lang="zh-CN" altLang="en-US" dirty="0"/>
          </a:p>
          <a:p>
            <a:r>
              <a:rPr lang="zh-CN" altLang="en-US" dirty="0"/>
              <a:t>      </a:t>
            </a:r>
            <a:r>
              <a:rPr lang="en-US" altLang="zh-CN" dirty="0"/>
              <a:t>"zh_v2_span": "</a:t>
            </a:r>
            <a:r>
              <a:rPr lang="zh-CN" altLang="en-US" dirty="0"/>
              <a:t>第二版中文中的相关片段（如有助于说明问题，可填；否则留空字符串）</a:t>
            </a:r>
            <a:r>
              <a:rPr lang="en-US" altLang="zh-CN" dirty="0"/>
              <a:t>",</a:t>
            </a:r>
            <a:endParaRPr lang="zh-CN" altLang="en-US" dirty="0"/>
          </a:p>
          <a:p>
            <a:r>
              <a:rPr lang="zh-CN" altLang="en-US" dirty="0"/>
              <a:t>      </a:t>
            </a:r>
            <a:r>
              <a:rPr lang="en-US" altLang="zh-CN" dirty="0"/>
              <a:t>"description": "</a:t>
            </a:r>
            <a:r>
              <a:rPr lang="zh-CN" altLang="en-US" dirty="0"/>
              <a:t>问题说明，指出哪里不对以及为什么</a:t>
            </a:r>
            <a:r>
              <a:rPr lang="en-US" altLang="zh-CN" dirty="0"/>
              <a:t>"</a:t>
            </a:r>
            <a:endParaRPr lang="zh-CN" altLang="en-US" dirty="0"/>
          </a:p>
          <a:p>
            <a:r>
              <a:rPr lang="zh-CN" altLang="en-US" dirty="0"/>
              <a:t>    </a:t>
            </a:r>
            <a:r>
              <a:rPr lang="en-US" altLang="zh-CN" dirty="0"/>
              <a:t>}</a:t>
            </a:r>
            <a:endParaRPr lang="zh-CN" altLang="en-US" dirty="0"/>
          </a:p>
          <a:p>
            <a:r>
              <a:rPr lang="zh-CN" altLang="en-US" dirty="0"/>
              <a:t>  </a:t>
            </a:r>
            <a:r>
              <a:rPr lang="en-US" altLang="zh-CN" dirty="0"/>
              <a:t>]</a:t>
            </a:r>
            <a:endParaRPr lang="zh-CN" altLang="en-US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367337" y="299321"/>
            <a:ext cx="5401867" cy="926944"/>
            <a:chOff x="367337" y="299321"/>
            <a:chExt cx="5401867" cy="926944"/>
          </a:xfrm>
        </p:grpSpPr>
        <p:sp>
          <p:nvSpPr>
            <p:cNvPr id="8" name="Diamond 33"/>
            <p:cNvSpPr/>
            <p:nvPr/>
          </p:nvSpPr>
          <p:spPr>
            <a:xfrm>
              <a:off x="367337" y="299321"/>
              <a:ext cx="926944" cy="926944"/>
            </a:xfrm>
            <a:prstGeom prst="diamond">
              <a:avLst/>
            </a:prstGeom>
            <a:solidFill>
              <a:srgbClr val="212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303194" y="464421"/>
              <a:ext cx="446601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游戏文本与评论的处理</a:t>
              </a:r>
            </a:p>
          </p:txBody>
        </p:sp>
      </p:grpSp>
      <p:sp>
        <p:nvSpPr>
          <p:cNvPr id="7" name="Isosceles Triangle 2"/>
          <p:cNvSpPr/>
          <p:nvPr/>
        </p:nvSpPr>
        <p:spPr>
          <a:xfrm>
            <a:off x="1121575" y="2208836"/>
            <a:ext cx="3187886" cy="3004187"/>
          </a:xfrm>
          <a:prstGeom prst="triangle">
            <a:avLst/>
          </a:prstGeom>
          <a:solidFill>
            <a:schemeClr val="bg1"/>
          </a:solidFill>
          <a:ln>
            <a:noFill/>
          </a:ln>
          <a:effectLst>
            <a:outerShdw blurRad="76200" dist="127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5" dirty="0"/>
          </a:p>
        </p:txBody>
      </p:sp>
      <p:grpSp>
        <p:nvGrpSpPr>
          <p:cNvPr id="10" name="组合 9"/>
          <p:cNvGrpSpPr/>
          <p:nvPr/>
        </p:nvGrpSpPr>
        <p:grpSpPr>
          <a:xfrm>
            <a:off x="1612097" y="2208837"/>
            <a:ext cx="2206838" cy="1737975"/>
            <a:chOff x="1699624" y="1384077"/>
            <a:chExt cx="2327524" cy="1833021"/>
          </a:xfrm>
        </p:grpSpPr>
        <p:sp>
          <p:nvSpPr>
            <p:cNvPr id="12" name="Isosceles Triangle 3"/>
            <p:cNvSpPr/>
            <p:nvPr/>
          </p:nvSpPr>
          <p:spPr>
            <a:xfrm flipV="1">
              <a:off x="3809012" y="3029048"/>
              <a:ext cx="218136" cy="188050"/>
            </a:xfrm>
            <a:prstGeom prst="triangle">
              <a:avLst/>
            </a:prstGeom>
            <a:solidFill>
              <a:schemeClr val="bg1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/>
            </a:p>
          </p:txBody>
        </p:sp>
        <p:sp>
          <p:nvSpPr>
            <p:cNvPr id="13" name="Isosceles Triangle 11"/>
            <p:cNvSpPr/>
            <p:nvPr/>
          </p:nvSpPr>
          <p:spPr>
            <a:xfrm flipV="1">
              <a:off x="1699624" y="3029047"/>
              <a:ext cx="218136" cy="188050"/>
            </a:xfrm>
            <a:prstGeom prst="triangle">
              <a:avLst/>
            </a:prstGeom>
            <a:solidFill>
              <a:schemeClr val="bg1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/>
            </a:p>
          </p:txBody>
        </p:sp>
        <p:sp>
          <p:nvSpPr>
            <p:cNvPr id="14" name="Isosceles Triangle 7"/>
            <p:cNvSpPr/>
            <p:nvPr/>
          </p:nvSpPr>
          <p:spPr>
            <a:xfrm>
              <a:off x="1699624" y="1384077"/>
              <a:ext cx="2327522" cy="1644972"/>
            </a:xfrm>
            <a:prstGeom prst="triangle">
              <a:avLst/>
            </a:prstGeom>
            <a:solidFill>
              <a:srgbClr val="465A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796819" y="3946811"/>
            <a:ext cx="1967403" cy="844660"/>
            <a:chOff x="2661872" y="1947672"/>
            <a:chExt cx="2901474" cy="890901"/>
          </a:xfrm>
        </p:grpSpPr>
        <p:sp>
          <p:nvSpPr>
            <p:cNvPr id="26" name="Rectangle 42"/>
            <p:cNvSpPr/>
            <p:nvPr/>
          </p:nvSpPr>
          <p:spPr>
            <a:xfrm flipH="1">
              <a:off x="2661872" y="2248920"/>
              <a:ext cx="2901474" cy="589653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86694" tIns="0" rIns="86694" bIns="0" rtlCol="0" anchor="t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将有关翻译的评论筛选而出形成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excel</a:t>
              </a: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表格，使用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VB</a:t>
              </a: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宏将</a:t>
              </a:r>
              <a:r>
                <a:rPr lang="en-US" altLang="zh-CN" sz="10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deepseek</a:t>
              </a: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接入对其评论进行情绪分析，分为情绪极性，情绪类型，体验受损类型</a:t>
              </a:r>
            </a:p>
          </p:txBody>
        </p:sp>
        <p:sp>
          <p:nvSpPr>
            <p:cNvPr id="27" name="Rectangle 42"/>
            <p:cNvSpPr/>
            <p:nvPr/>
          </p:nvSpPr>
          <p:spPr>
            <a:xfrm flipH="1">
              <a:off x="2661872" y="1947672"/>
              <a:ext cx="2568733" cy="322237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86694" tIns="0" rIns="86694" bIns="0" rtlCol="0" anchor="t"/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游戏评论的处理</a:t>
              </a:r>
              <a:endPara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</p:grpSp>
      <p:pic>
        <p:nvPicPr>
          <p:cNvPr id="3" name="图片 2" descr="图形用户界面, 应用程序, 表格, Excel&#10;&#10;AI 生成的内容可能不正确。">
            <a:extLst>
              <a:ext uri="{FF2B5EF4-FFF2-40B4-BE49-F238E27FC236}">
                <a16:creationId xmlns:a16="http://schemas.microsoft.com/office/drawing/2014/main" id="{F1BB1803-390A-60D5-61EF-E35BD4DBD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466" y="1226265"/>
            <a:ext cx="7761447" cy="51495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841"/>
            <a:ext cx="12183087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85394" y="377742"/>
            <a:ext cx="3082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VB</a:t>
            </a:r>
            <a:r>
              <a:rPr lang="zh-CN" altLang="en-US" b="1" dirty="0"/>
              <a:t>宏展示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02" y="877543"/>
            <a:ext cx="11908682" cy="5602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83087" cy="6858000"/>
          </a:xfrm>
          <a:prstGeom prst="rect">
            <a:avLst/>
          </a:prstGeom>
        </p:spPr>
      </p:pic>
      <p:sp>
        <p:nvSpPr>
          <p:cNvPr id="4" name="Diamond 33"/>
          <p:cNvSpPr/>
          <p:nvPr/>
        </p:nvSpPr>
        <p:spPr>
          <a:xfrm>
            <a:off x="5219682" y="1588778"/>
            <a:ext cx="1752636" cy="1752636"/>
          </a:xfrm>
          <a:prstGeom prst="diamond">
            <a:avLst/>
          </a:prstGeom>
          <a:solidFill>
            <a:srgbClr val="212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077798" y="3516587"/>
            <a:ext cx="37890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rPr>
              <a:t>分析与总结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83087" cy="685800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5106" y="84841"/>
            <a:ext cx="5430147" cy="961533"/>
            <a:chOff x="367337" y="299321"/>
            <a:chExt cx="5401867" cy="926944"/>
          </a:xfrm>
        </p:grpSpPr>
        <p:sp>
          <p:nvSpPr>
            <p:cNvPr id="15" name="Diamond 33"/>
            <p:cNvSpPr/>
            <p:nvPr/>
          </p:nvSpPr>
          <p:spPr>
            <a:xfrm>
              <a:off x="367337" y="299321"/>
              <a:ext cx="926944" cy="926944"/>
            </a:xfrm>
            <a:prstGeom prst="diamond">
              <a:avLst/>
            </a:prstGeom>
            <a:solidFill>
              <a:srgbClr val="212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03194" y="464421"/>
              <a:ext cx="4466010" cy="59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分析与总结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067309" y="2627613"/>
            <a:ext cx="62771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Steam</a:t>
            </a:r>
            <a:r>
              <a:rPr lang="zh-CN" altLang="en-US" dirty="0"/>
              <a:t>收集的有关翻译的评论中，情感负面占</a:t>
            </a:r>
            <a:r>
              <a:rPr lang="en-US" altLang="zh-CN" dirty="0"/>
              <a:t>72%</a:t>
            </a:r>
            <a:r>
              <a:rPr lang="zh-CN" altLang="en-US" dirty="0"/>
              <a:t>，中性占</a:t>
            </a:r>
            <a:r>
              <a:rPr lang="en-US" altLang="zh-CN" dirty="0"/>
              <a:t>28%</a:t>
            </a:r>
            <a:r>
              <a:rPr lang="zh-CN" altLang="en-US" dirty="0"/>
              <a:t>。这张情绪分布饼图显示，在全部反馈中“愤怒”占比最高为 </a:t>
            </a:r>
            <a:r>
              <a:rPr lang="en-US" altLang="zh-CN" b="1" dirty="0"/>
              <a:t>46%</a:t>
            </a:r>
            <a:r>
              <a:rPr lang="zh-CN" altLang="en-US" dirty="0"/>
              <a:t>，其次是“其他” </a:t>
            </a:r>
            <a:r>
              <a:rPr lang="en-US" altLang="zh-CN" b="1" dirty="0"/>
              <a:t>30%</a:t>
            </a:r>
            <a:r>
              <a:rPr lang="zh-CN" altLang="en-US" dirty="0"/>
              <a:t>，“失望” </a:t>
            </a:r>
            <a:r>
              <a:rPr lang="en-US" altLang="zh-CN" b="1" dirty="0"/>
              <a:t>19%</a:t>
            </a:r>
            <a:r>
              <a:rPr lang="zh-CN" altLang="en-US" dirty="0"/>
              <a:t>，“困惑” </a:t>
            </a:r>
            <a:r>
              <a:rPr lang="en-US" altLang="zh-CN" b="1" dirty="0"/>
              <a:t>5%</a:t>
            </a:r>
            <a:r>
              <a:rPr lang="zh-CN" altLang="en-US" dirty="0"/>
              <a:t>，整体情绪明显偏负面且以愤怒为主，其他主要为中性评论的情感。可见绝大多数玩家在面对游戏的问题时并不是理性的分析，更多的是情绪的发泄。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0" y="2320619"/>
            <a:ext cx="4524465" cy="282236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7CF415E-CAE7-0F02-3DF5-86D102029E6E}"/>
              </a:ext>
            </a:extLst>
          </p:cNvPr>
          <p:cNvSpPr txBox="1"/>
          <p:nvPr/>
        </p:nvSpPr>
        <p:spPr>
          <a:xfrm>
            <a:off x="61870" y="1117810"/>
            <a:ext cx="3112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情绪分析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4FB4F-7875-4FAB-113E-48097DCE7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D17610E-269C-8598-F639-B369738AF5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A60EFEB-F2A9-1D9F-2C05-5B3095ED49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83087" cy="6858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D44D895-EAB4-BD78-0154-8A785D5AA3BD}"/>
              </a:ext>
            </a:extLst>
          </p:cNvPr>
          <p:cNvGrpSpPr/>
          <p:nvPr/>
        </p:nvGrpSpPr>
        <p:grpSpPr>
          <a:xfrm>
            <a:off x="75106" y="84841"/>
            <a:ext cx="5430147" cy="961533"/>
            <a:chOff x="367337" y="299321"/>
            <a:chExt cx="5401867" cy="926944"/>
          </a:xfrm>
        </p:grpSpPr>
        <p:sp>
          <p:nvSpPr>
            <p:cNvPr id="3" name="Diamond 33">
              <a:extLst>
                <a:ext uri="{FF2B5EF4-FFF2-40B4-BE49-F238E27FC236}">
                  <a16:creationId xmlns:a16="http://schemas.microsoft.com/office/drawing/2014/main" id="{5DA01C05-E0DD-46EE-E6EF-E49D67A71410}"/>
                </a:ext>
              </a:extLst>
            </p:cNvPr>
            <p:cNvSpPr/>
            <p:nvPr/>
          </p:nvSpPr>
          <p:spPr>
            <a:xfrm>
              <a:off x="367337" y="299321"/>
              <a:ext cx="926944" cy="926944"/>
            </a:xfrm>
            <a:prstGeom prst="diamond">
              <a:avLst/>
            </a:prstGeom>
            <a:solidFill>
              <a:srgbClr val="212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C629FB8-D7AA-DB5A-249D-D0904F35EBD3}"/>
                </a:ext>
              </a:extLst>
            </p:cNvPr>
            <p:cNvSpPr txBox="1"/>
            <p:nvPr/>
          </p:nvSpPr>
          <p:spPr>
            <a:xfrm>
              <a:off x="1303194" y="464421"/>
              <a:ext cx="4466010" cy="59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分析与总结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77CB352D-B74B-DD6F-F6D4-4754D8E14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04" y="1685266"/>
            <a:ext cx="11138792" cy="113478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A6F816E-529C-BA2F-6734-E1B80FF4F537}"/>
              </a:ext>
            </a:extLst>
          </p:cNvPr>
          <p:cNvSpPr txBox="1"/>
          <p:nvPr/>
        </p:nvSpPr>
        <p:spPr>
          <a:xfrm>
            <a:off x="884668" y="3796859"/>
            <a:ext cx="101399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玩家的强烈负面情绪高度集中在“文风违和”上：超过一半的愤怒反馈、近一半的失望反馈都指向文本</a:t>
            </a:r>
            <a:r>
              <a:rPr lang="en-US" altLang="zh-CN" dirty="0"/>
              <a:t>/</a:t>
            </a:r>
            <a:r>
              <a:rPr lang="zh-CN" altLang="en-US" dirty="0"/>
              <a:t>语气风格问题，其次是理解障碍和信任流失，说明表达方式既在内容层面阻碍了理解，也在信任层面上刺激了情绪。同时，理解障碍不仅导致困惑，还大量出现在愤怒和失望中，是把一般不满升级为强负面情绪的重要因素；信任流失主要源于落差感，作为一部续作，与前作相隔了</a:t>
            </a:r>
            <a:r>
              <a:rPr lang="en-US" altLang="zh-CN" dirty="0"/>
              <a:t>8</a:t>
            </a:r>
            <a:r>
              <a:rPr lang="zh-CN" altLang="en-US" dirty="0"/>
              <a:t>年。玩家的期待值在较长的时间中被拉到很高的水平，当出现各种各样的问题时，游戏工作室在玩家心中的地位无疑会降低。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6DF81E-AE9B-E896-BB43-C6369409ADA2}"/>
              </a:ext>
            </a:extLst>
          </p:cNvPr>
          <p:cNvSpPr txBox="1"/>
          <p:nvPr/>
        </p:nvSpPr>
        <p:spPr>
          <a:xfrm>
            <a:off x="61870" y="1117810"/>
            <a:ext cx="3112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情绪与受损体验热力图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BB2174-1E50-3299-9055-09C49FA3051A}"/>
              </a:ext>
            </a:extLst>
          </p:cNvPr>
          <p:cNvSpPr txBox="1"/>
          <p:nvPr/>
        </p:nvSpPr>
        <p:spPr>
          <a:xfrm>
            <a:off x="448287" y="2949933"/>
            <a:ext cx="99277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*</a:t>
            </a:r>
            <a:r>
              <a:rPr lang="zh-CN" altLang="en-US" sz="900" dirty="0"/>
              <a:t>使用</a:t>
            </a:r>
            <a:r>
              <a:rPr lang="en-US" altLang="zh-CN" sz="900" dirty="0"/>
              <a:t>excel</a:t>
            </a:r>
            <a:r>
              <a:rPr lang="zh-CN" altLang="en-US" sz="900" dirty="0"/>
              <a:t>的函数功能计算各情绪对应的受损类型的数量</a:t>
            </a:r>
          </a:p>
        </p:txBody>
      </p:sp>
    </p:spTree>
    <p:extLst>
      <p:ext uri="{BB962C8B-B14F-4D97-AF65-F5344CB8AC3E}">
        <p14:creationId xmlns:p14="http://schemas.microsoft.com/office/powerpoint/2010/main" val="4146962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0" y="0"/>
            <a:ext cx="12183087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1582487"/>
            <a:ext cx="8148841" cy="4948942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5106" y="84841"/>
            <a:ext cx="5430147" cy="961533"/>
            <a:chOff x="367337" y="299321"/>
            <a:chExt cx="5401867" cy="926944"/>
          </a:xfrm>
        </p:grpSpPr>
        <p:sp>
          <p:nvSpPr>
            <p:cNvPr id="15" name="Diamond 33"/>
            <p:cNvSpPr/>
            <p:nvPr/>
          </p:nvSpPr>
          <p:spPr>
            <a:xfrm>
              <a:off x="367337" y="299321"/>
              <a:ext cx="926944" cy="926944"/>
            </a:xfrm>
            <a:prstGeom prst="diamond">
              <a:avLst/>
            </a:prstGeom>
            <a:solidFill>
              <a:srgbClr val="212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03194" y="464421"/>
              <a:ext cx="4466010" cy="59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分析与总结</a:t>
              </a: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8504446" y="1975645"/>
            <a:ext cx="31928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漏译 </a:t>
            </a:r>
            <a:r>
              <a:rPr lang="en-US" altLang="zh-CN" dirty="0"/>
              <a:t>+ </a:t>
            </a:r>
            <a:r>
              <a:rPr lang="zh-CN" altLang="en-US" dirty="0"/>
              <a:t>语义错误 </a:t>
            </a:r>
            <a:r>
              <a:rPr lang="en-US" altLang="zh-CN" dirty="0"/>
              <a:t>+ </a:t>
            </a:r>
            <a:r>
              <a:rPr lang="zh-CN" altLang="en-US" dirty="0"/>
              <a:t>多译</a:t>
            </a:r>
            <a:r>
              <a:rPr lang="en-US" altLang="zh-CN" dirty="0"/>
              <a:t>/</a:t>
            </a:r>
            <a:r>
              <a:rPr lang="zh-CN" altLang="en-US" dirty="0"/>
              <a:t>赘译</a:t>
            </a:r>
            <a:r>
              <a:rPr lang="en-US" altLang="zh-CN" dirty="0"/>
              <a:t>= 87.36%</a:t>
            </a:r>
            <a:r>
              <a:rPr lang="zh-CN" altLang="en-US" dirty="0"/>
              <a:t>，这说明翻译质量问题高度集中在“信息的完整性与准确性”，而造成这个问题的原因是译者使用了大量的文言翻译。空洞骑士本来就带着点这种古代或者说中世纪的语言风格，问题是翻译不太了解文言文，只知道一些似是而非的文言知识，最后写出来的东西跟文言文没有一点关系；在小更新之后的翻译确实会文言文，也能写点不至于像古风小生那样低级的文言文，但是仍做不到信达雅。</a:t>
            </a:r>
            <a:endParaRPr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491113-C322-1841-8A28-A495AF14FDFF}"/>
              </a:ext>
            </a:extLst>
          </p:cNvPr>
          <p:cNvSpPr txBox="1"/>
          <p:nvPr/>
        </p:nvSpPr>
        <p:spPr>
          <a:xfrm>
            <a:off x="61870" y="1117810"/>
            <a:ext cx="3112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翻译问题分析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3087" cy="6858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75106" y="84841"/>
            <a:ext cx="5430147" cy="961533"/>
            <a:chOff x="367337" y="299321"/>
            <a:chExt cx="5401867" cy="926944"/>
          </a:xfrm>
        </p:grpSpPr>
        <p:sp>
          <p:nvSpPr>
            <p:cNvPr id="3" name="Diamond 33"/>
            <p:cNvSpPr/>
            <p:nvPr/>
          </p:nvSpPr>
          <p:spPr>
            <a:xfrm>
              <a:off x="367337" y="299321"/>
              <a:ext cx="926944" cy="926944"/>
            </a:xfrm>
            <a:prstGeom prst="diamond">
              <a:avLst/>
            </a:prstGeom>
            <a:solidFill>
              <a:srgbClr val="212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303194" y="464421"/>
              <a:ext cx="4466010" cy="59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分析与总结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971906" y="2100145"/>
            <a:ext cx="10239274" cy="2815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       玩家在面对游戏的问题时，情绪往往并不是温和的。翻译作为刚进入游戏时就能看到的东西，游戏厂商应该认真对待，而不是等游戏发售后引起了玩家的情绪之后再去弥补。就丝之歌而言，它的本地化是失败的。因为翻译问题，它没有带来更高的玩家满意度、留存率和参与度，反而降低了游戏工作室在中国的口碑，短期来看会降低游戏的销量和营收，但更负面的是在社区中出现的信任危机，这需要长期的努力去修复这层关系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A0BCD-96C6-7A11-C5BB-E297A00D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5F0CED5-2F90-6271-DF84-9975970DC9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74174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28F96CE-2200-E88D-5E3A-E5B698E877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0"/>
            <a:ext cx="12183087" cy="6858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86D19833-51B6-3822-C20F-60C4FC74A9F0}"/>
              </a:ext>
            </a:extLst>
          </p:cNvPr>
          <p:cNvGrpSpPr/>
          <p:nvPr/>
        </p:nvGrpSpPr>
        <p:grpSpPr>
          <a:xfrm>
            <a:off x="75106" y="84841"/>
            <a:ext cx="5430147" cy="961533"/>
            <a:chOff x="367337" y="299321"/>
            <a:chExt cx="5401867" cy="926944"/>
          </a:xfrm>
        </p:grpSpPr>
        <p:sp>
          <p:nvSpPr>
            <p:cNvPr id="3" name="Diamond 33">
              <a:extLst>
                <a:ext uri="{FF2B5EF4-FFF2-40B4-BE49-F238E27FC236}">
                  <a16:creationId xmlns:a16="http://schemas.microsoft.com/office/drawing/2014/main" id="{02082494-A617-C844-6FB6-029C4FCFBD76}"/>
                </a:ext>
              </a:extLst>
            </p:cNvPr>
            <p:cNvSpPr/>
            <p:nvPr/>
          </p:nvSpPr>
          <p:spPr>
            <a:xfrm>
              <a:off x="367337" y="299321"/>
              <a:ext cx="926944" cy="926944"/>
            </a:xfrm>
            <a:prstGeom prst="diamond">
              <a:avLst/>
            </a:prstGeom>
            <a:solidFill>
              <a:srgbClr val="212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A1857DC-6C1B-8D9F-7921-C166515B311A}"/>
                </a:ext>
              </a:extLst>
            </p:cNvPr>
            <p:cNvSpPr txBox="1"/>
            <p:nvPr/>
          </p:nvSpPr>
          <p:spPr>
            <a:xfrm>
              <a:off x="1303194" y="464421"/>
              <a:ext cx="4466010" cy="59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entury Gothic" panose="020B0502020202020204" pitchFamily="34" charset="0"/>
                </a:rPr>
                <a:t>分析与总结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754A40B-B2A2-3EA4-B164-5818C47C65CB}"/>
              </a:ext>
            </a:extLst>
          </p:cNvPr>
          <p:cNvSpPr txBox="1"/>
          <p:nvPr/>
        </p:nvSpPr>
        <p:spPr>
          <a:xfrm>
            <a:off x="908269" y="1994857"/>
            <a:ext cx="10239274" cy="2815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）先定“中文文风与术语”标准：明确语气和风格（不再出现像玩家吐槽的古风小生腔、与原作调性不一致等问题）并建立术语表与翻译规范；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）把流程补齐为“译者</a:t>
            </a:r>
            <a:r>
              <a:rPr lang="en-US" altLang="zh-CN" sz="2000" dirty="0"/>
              <a:t>+</a:t>
            </a:r>
            <a:r>
              <a:rPr lang="zh-CN" altLang="en-US" sz="2000" dirty="0"/>
              <a:t>编辑</a:t>
            </a:r>
            <a:r>
              <a:rPr lang="en-US" altLang="zh-CN" sz="2000" dirty="0"/>
              <a:t>/</a:t>
            </a:r>
            <a:r>
              <a:rPr lang="zh-CN" altLang="en-US" sz="2000" dirty="0"/>
              <a:t>审校</a:t>
            </a:r>
            <a:r>
              <a:rPr lang="en-US" altLang="zh-CN" sz="2000" dirty="0"/>
              <a:t>”</a:t>
            </a:r>
            <a:r>
              <a:rPr lang="zh-CN" altLang="en-US" sz="2000" dirty="0"/>
              <a:t>：不仅查错字，更要检查语境、可读性与一致性，且必须进游戏实机跑一遍确认 </a:t>
            </a:r>
            <a:r>
              <a:rPr lang="en-US" altLang="zh-CN" sz="2000" dirty="0"/>
              <a:t>UI </a:t>
            </a:r>
            <a:r>
              <a:rPr lang="zh-CN" altLang="en-US" sz="2000" dirty="0"/>
              <a:t>、提示语、任务指引不会误导；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）上线前发布</a:t>
            </a:r>
            <a:r>
              <a:rPr lang="en-US" altLang="zh-CN" sz="2000" dirty="0"/>
              <a:t>Demo</a:t>
            </a:r>
            <a:r>
              <a:rPr lang="zh-CN" altLang="en-US" sz="2000" dirty="0"/>
              <a:t>或者组织玩家测试，将潜在的翻译问题在发售前解决。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     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787FE9-EF1B-1FD0-343A-E4ADBBC76D12}"/>
              </a:ext>
            </a:extLst>
          </p:cNvPr>
          <p:cNvSpPr txBox="1"/>
          <p:nvPr/>
        </p:nvSpPr>
        <p:spPr>
          <a:xfrm>
            <a:off x="147706" y="1275951"/>
            <a:ext cx="3112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对游戏厂商的启示</a:t>
            </a:r>
          </a:p>
        </p:txBody>
      </p:sp>
    </p:spTree>
    <p:extLst>
      <p:ext uri="{BB962C8B-B14F-4D97-AF65-F5344CB8AC3E}">
        <p14:creationId xmlns:p14="http://schemas.microsoft.com/office/powerpoint/2010/main" val="40476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" y="-24901"/>
            <a:ext cx="12174174" cy="6858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6174" y="-2663826"/>
            <a:ext cx="11697656" cy="6472342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619033" y="2897195"/>
            <a:ext cx="4953933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经典综艺体简" panose="02010609000101010101" pitchFamily="49" charset="-122"/>
              </a:rPr>
              <a:t>感谢观看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330071" y="4659437"/>
            <a:ext cx="3488576" cy="2507105"/>
            <a:chOff x="9330071" y="4659437"/>
            <a:chExt cx="3488576" cy="2507105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0823" y="5467285"/>
              <a:ext cx="1046894" cy="1134899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5824" y="4769755"/>
              <a:ext cx="1209792" cy="131149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34096" y="5441425"/>
              <a:ext cx="848991" cy="920360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9455" y="5693775"/>
              <a:ext cx="1046894" cy="1134899"/>
            </a:xfrm>
            <a:prstGeom prst="rect">
              <a:avLst/>
            </a:prstGeom>
          </p:spPr>
        </p:pic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68553" y="4659437"/>
              <a:ext cx="1046894" cy="1134899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3121" y="6031644"/>
              <a:ext cx="961649" cy="1042488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7428" y="6361785"/>
              <a:ext cx="723666" cy="784499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71753" y="6031643"/>
              <a:ext cx="1046894" cy="1134899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0071" y="6525256"/>
              <a:ext cx="449250" cy="487015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7939688" y="6609727"/>
            <a:ext cx="7048513" cy="2616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/>
            <a:r>
              <a:rPr lang="zh-CN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小组成员：冯子翔、方烨、顾雨威   时间：</a:t>
            </a:r>
            <a:r>
              <a:rPr lang="en-US" altLang="zh-CN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2025.12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64713664-BC3D-46C0-9550-BB4C29D5CF73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Content List"/>
  <p:tag name="ISPRING_PLAYERS_CUSTOMIZATION" val="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HeM90qHb5M5aCsAALNWAAAXAAAAdW5pdmVyc2FsL3VuaXZlcnNhbC5wbmftfHlYU9farz32aAcErRYSgaSWVq2VxBglIJDUOtDWqVY9DgRSjCRYIRgQCJChHlvGQLRVoqJE5VhnEKIkQki0QLYaIEKrMSUQyS5EDBA3QxLIdBOwRXvaP+493/fce59PnocnyV7rXev3vusd91575X6+PmLaG7PfmDRp0rRPP1n5xaRJf8dNmjQ58bUpriuv3eif7Pp4JfmLiI8nlTX79bh+vEpdvm75pEkVvDdtMX93/X597yfbkydN8qxz/78CJJ7fNWnSPz75dOXyzYzovvZE3hXqdmdM9Ez01z4ftc47/iWZudOEJd8NSHhj5aw5h1d+cHT2vz77+ptZf3/d+63XTue9/jEm6NS0Vy4F1k96ZUbeJx9c++eg9WSd9G57jf6E6vhSrD7aEA3MC6mkUuzHlgqpZRRODcW49UTg6IiSwzb9+Cb6RLjTNqhnD3wvmOT+02DIl7jti02KWHRhMT0mley++PWKGaHdj5kam1rJLoqe4b706F59STqe5tA67aSMv493erum+0Nb8DL3j73xO1XMhg2c0Z+GPp5orHxzbA7Pk/TBSQ2EBOcNJQtVy+0btHq5rl71BbtfWUw7GSRzujvV3CiiD96aimTmbmA92SQ/9uFjmAjvHFHKGtNk1vah6si9x3hGCEASZA6V1HR9aKD4AWRFas8hR25HtCp0fT5RQTPNme0CEWOhYjB2txYIqWdpLmipbuxPymI1zK4PSemmUZXM0XCr83o5q099JVLUHKs69wBDs/cIHD0jr/kHRNtGb3mxn9oSNoRBKzPsoZ12I8d5fdoGqKIviaS1deOU5TXDdKyUWpfxtEAF9lnZRnlCubUCDTRtlY3e1/MSJOz79MG5CLRr2nv6X+RNwx9ND7izJ3rw+GBn/Ehqd7XrCsOnjuKRpxC1f1rj+V3Nw2GpbhlmiMJP6ZmNA63J4Z5yA/kjopS1FRfuXRiDrYlHyte5Rgum4YJoWbAN8ukzAvSXoocvDhqyYJ/Lh3WVDBaxyo/YYZaaay2m6crp/vwGg8IcWtL0Nhp4LclpNwtI8zoSJQkeODABrLLiq4qTzsmbGOEdCDSPus8xInCOjLTtvFwoalCsIOJpvvwCg7wc8rhN385sLhL5Kj0L2uqPLitZWi2JTy+Ggi9ZtxMeMKytA2xdF49jA9EdGyROp8PoZKsBH1VBG9c6zR9MVInh2kjDjGSmdqEWod0EGgjSDXLztjC5OJop4FnzSQCZpy0XOyysPEOh9XUw84MaASNzbhmuw/lFWGRYjfGqAV4p4TEWqlVu/du7jfYr0LrC4++YeO7yD6b82AWr8sODlZjVXGR+wa05NF80z9AQq9iYRERHe4IsQIH5J9cgt9dbC1UAOceMW93IQrSJ+9c9dsnYWMRVNk0/oLVsA+751G0meiMzuUzM3+Rd0B4iHpXPB1XiXpJzmKQk8figSUH9WB4LsuXWHFFDLMTQVdLb6U5oAGXGIgzi5tYBqa7Lsg2E5H3kq1yzS/QpRXXbiN4qf2Qa0duYSGTPdC05A6kwtliWSjvAPsg+M9E1hTVGg8ID9Db6dokf+TFDArLBwVkiX3N4NNKMlSJB8zs1gvxdIEVjHsgM7Sdr0iROsVENf8uMaT5wFcF4xWVhdfuugBSPv2H8vmFU/Qyrkb/zVsCPi8p8+cD56St+hPllwd7TZShEDQbMCbkCxAOxdDtmZ729wPCtuH1UqhvTg5+X0soaGMEldPjkjqQ4LoRG8SricpbHeXDoVhhfbhyZzgfa+KJ8q78zboMGEPeLBVCGxE+l7WIX8ZYKJeVdik6sYKQx/0CshBX2AyM95HwW5iJKm9q+DGiySP2Vh7kkcA+hQ4owyV+D66qgKiiJ6VVgaDDQBZBdaNuRY2xgWMW8Rc25vWzUW7w94TR5m/xqSP3B2eZaA3zxlFaxY3QPzK39RNwAuQezc6Hg7FJ5PmzOA90A7JD8ncXyQzBYEblrejmv7YrWODBKP9mVoCr3cjE3bCeeK6Mnhzy9ciUbwLwjbyvaCeMqyLMKXlncn8YthEzi9WFWOqsGVvnAGFDfx0fzAJiqptF+OdC4x14B9K2Q+CUizdeZ6TmiQCS47rEfjjzLT3sJ2sPEg31udX5Afs1PGwCFz0IDsWAmVUPNUYHsIiXDk94GEd4o0i1T24nv0YQOfKHoCoEEZtQNVDLCUS6Vshe2ycm5ACIxH6hGrB1bymQyR0/hvgrCN2GO1qcUlX4pCaNh2f6JvsrHb2DmFrZ9I1ZCVcPWKE+4YcZ7U44PY8Uu/heZ0uPBalzndKAJamzqStElv1VKCQOTNFslgWwZ6AC7YGHApGX1CbpKBbeYXyu43sW6QjDly5vEzmFtBVypIcr6qlMKi8EuCz5nOTqaJ+JBiSMLgekCo9gh7mCkw8y+usxYZonQKLMsy1UIrTduj1qX1bPKOU7Qlivqy8iqB2G8pYitxHkI50Cqa51udt6ooGOz/smwMkybPOYpDsWEpNbnXPXDy4VSOYvb+e7qbHE/g0RHkh/D+FFLaHJWfRe9FhqFJbuZGS7emwNSuDvoxdBI/nJsyWk4mcT9mq621GCBFHAZ3S6OJs5D5ZPA4Sh5E+Rxj9VPTRiBUCRPn4LiOVmN0FI/XsCUDnp7catLkVSZzJO8FnwH3sVv/EjtDDSQAA4iVPl8IDaGJQPZuuRqm8M9loVJNScfitcQtWZGOIKs4WjMlnB/Y1qYHGKAZCSPqgGCke6YVpcS6LI4T/K2bXm33plSyAhBIQkD8KIDMUTvFT+K40N+qL86q7ROHM+dBaaClWKWREZP1zgHquesPkQn0O3QUTMrHneWrMlTNsHewEL0csEHIQ7pHdhU4GkwagwXk7aCux/sw3gXmotreV1GNSwQiMs4Zt0eyZYYeOE0AiJRwkonQRkex0F7c4cy5bHFTmIrXY5Vgs+qZVgtiBw+oOIwywuMPQwmXQ1DZ3fZ5WJYOY8uHnVEapWrKo2GvS2s7Cce2/EdYiP9pNgxgB/jbV8gOFd1iazR7R2xT3VdeVjgCtpw0fpiLcfd3g7DeR2kG679VeMr7s/SXZpX3bG88Dv6TPdn8GdjoWvSo/nwv+pQbhngy5hTxnMIbrH78+bGxbS/ub9E3BG/7v70ex+cO9bh8H/Y4V73hXMlyzK7j1GbS1gmNfbTPOE7zd8E+1ZiyfKxjtcsd7dKk0y2QaW2ZMl7PfwG9XTqytTUzWPDfpSPdDzNFlE9Ps1Ip6/eRY1oGKc5+K/tavVGzNiMge/t/sfv/d/89PiRk/5vj0/98XeU2Jck/2+Q+EcQRlt4zYj0Xw8Jrf01Rk17mpaVqopK8z/MWAtCDeQC4HLC4YlRs0ncb8ya5A3L5iMqGY1Tml9o0072CjtYmA28g6gplPX2nh+zha+9l9k8oYh7aW/zWAIEa6ilDd0z/W5zYd6Y3sedrkP7TuPdic2PSRa09XQ/35AY7o0oVizJalJ0rMdFPoeZrTi99wPHqoF5JQyd6Xo/cQPBPjRCvoMgP7zedTX9mGsYxfPDhFgC/XeoyR411xBBabUnM16cY3Ra9j9MsLrL8Q81XalPPgwNXTBmqae+9ZTFW950t624v6qOcq/zBSkE2b5d8WEmt/PMxRjs470vsuP48fSRcPnBpb5BBzzPPS+Gyk60nxuIIRX+V02KVP+/aipVeBQvz970vBzUT308r/Rish5X/hXAGMFf4bv05wRbT9d98CcyKP/4T2eO/vZPsUre8F8/oXD7LLF1pOBrlQAMwXi0f6gPu+xEpbB055j/2/H4qSJLtjculodZafU48ectXFTo3id/ysTV3sWTz/2VkP2DU4InbOBeJ38ap/PeXQT59i+xj37+i+Wk/NVwW+7fvPCnkqm7nD9l/Z+zm/qB7x8giBD2rAiXsZmW9jN5+NG4UVhd2ZWpfyAPnCoj7ztW9EckRSs6MdXx5D9A14abNYOVt55uqydrz8H+MJ35aZ3XubpOTA5QBqKfx460P46gimjtnwF1K7x5IX+w18Kd7zEHi7UnCnOy5yMuxSSH/g/wivtYLH2oNiRTlzsvunuWyyey9zkq5OXbwYE4laHneeUzGDqzkfgaQ1lNdPeDK5FUt/fp2+P/D+hoeSnsfaPU2i8cW+LI6B0Sgdun2rosJ4hLvpS3gUn+/3h+xgJ68nYuG/Ok4WlaTpT+oOXmZK8T7cnKcBEpczfmKX70cakevVWpWUJDUJ4niwUpQw/JvJOy8JJaOKEaEUCSBJYRSm7BZHLDCmLirBVfaijEKsQUPr8BO4/P51ln8wGrf4MBEstTzjyh11tzeTHEKhQq3xrZMTfPSiysMVijOvQWYoGOnMvbTcRPaW0ZIL8JDl4wBE4oTVk5TFVJx065wcj0SJxT0gDTwU9iugs2Pj2djVgm49FHYB+A6oOJ7MFiJdpX+TdX/ffUp9xVa1kZIWWhedZpdI4rxWJ6nHAViOWYt5oRERIjI5wdJeXFQtvAKoVrNLqglIEkf8MFFtOwHVQiPs+MRfGsuQo5TwqAs3kYFBLJYfpVdzznIkbz9idwv12DERcgVYUb0WVCZvdO7rfgQAus94zYAYOVMjI1GySB/ZkhfnK7fBhgBCOU88t8jYmz+DwKLwDF21+xIEsjbooLk3cBNUymomJpXmdS2A/QjR3RCDNSlGuN4izcGPZguG3f8AvTxgS6cklVka6PfMLvQHslvVjcMT2ALAnMI5Hv5VMxcrFIWg4bKRK5byBsJOKz6ud34PtxO/BFUQhArM2fTe5mmHaFdXRZ8+Xk2St6q6EqBgkaGIDqgWU0QXhJ7+ClS/wJrVWpYODFSigwmkddiYqQTK97FMf9ht7OoOzSKMXlw30fE70busCu+ajIwgIFsDjTr4Zb3DIA3AODFLyA2bzdYY4UMAGSyrERqp2wpTTTcwah2uqRIIwJ9NXuvBnp9TVU+nDOasnw1z6l0WH5yWGD9JEA7UZbnJnRvYsoNYi3hxfGqejYDjPDRLFV01x1bpF+FOLxPsgDKm0zzPNpM3lz2AWvpNjJA+qEFyX2S5qG2xbIORzKjvJ01TGMubtmERbgV8thfuCwOHoWGE3kSPD91FmiSF4xJquw5ekZYEbfMtpqEFDzeZnXJErYvBUS53RRvqLUVZook25yN6aFOcQ8MVOz1RUalQVl5RMerFq6cxvRM3s7BkZR5S5Hra6dfqB9AH6YXswI0omZIR0Nk2AHtOKFZTj5nfkdqoFhsbbrEawuhkgNCxVm+NFrugxbXOoqM1CPrFYA19g2gzKGmOhRMgeV38bV2etBrkJHVso3R9VOTPndkudSh/eaJvzFnE+FE3L4pPXyS5L/sSRh1l6hSP/mH4omxpML55rZJqGgvQTzb4VW8TwBc6D3hr6kJpz6Sat65Nh06opUSuP/eZX5v9fh63+QrL+omtlPDyBPhLvQ64daoxmd3/oQcFD6KM9p4Q0NMuAky48+zXhbp5cg3PLoADWRY21T9teaO5ryeIk5vBC8qTf5x6BxQQVhHvQM2H+dRwjJdHHdquxpzNRaO/a9GvZ2IqPOt5kwVa3PAqnj0nKnIJLw+7sFJngweOy4+lFanm77CbU+B6SMd6gPPnfpbUKl40g58327razW2m5cHyHdZMrdwHzXTqRLnsX/qA1QqV2tT+tpiUCuA2o3+RDOlLCkwdG/xzWXiBfb/bwinREHynSHIhCfEqh+8353jzb7WbU+uF7mWVKQYfvYJmab0sFg+G9+xl08DyX7rbeTIrQNPjJLw1AyAP0WqWujhkp7EjN+Km5dziMNlPa0xYwD721Lkw6eFLrLF6JE0usuwUbaBOzRnrbEkVUGEVAO4hfT7RD7gZGsFjvi7KOPzxhiL5q3DtcaWcZYAchyzjmdJgH99YQyuxwnpZ8TZVuNMqetcrqq5nHlWiLCfCwqaKFWP+rQDXdZay5bQj9VCUILvx9XSbpap05xVXlmdVRa+/BbXuFD9/r22HYu4YrctZ9IO5D/IJFH4psrvFUcS2e2klRIQn9F5CyJ5m2kq1epFJuN5U++9YlmuKSSJYtvLIYHPAV5hBIpK10GDWCVYckOUyzkAN4Z6dnAGTVFDuoGxIKLEJ582/ZAJE2xXpH1rkCO3svn7UZCad+XETh+yHFZ6xY3XIXXkbjFGMc0cq8fWVcGUogcDeB+OIHOfLR/ajQzMixzMbvAJSCft/nZLa44sDXMmryvZVhujcwDqhM3hA//vAYPuFWpdU4iZaRR1XXwBgIHwo+XKl0Gpg+IhYEgLAIcBSvpSMjAiCQizsA+A9r4ciEWOLisA2EMyOi/oS8b8mi21HzKnxBZxR7MksIZgxUAosb+gDSrHGgjn+Km+uP4BVR6WUQDbDbYBxlWNXTFLIn2UlAPR++rNdBGSnswr1EDOlBFIMXjiEHEoydzj2LiCw3fwODkeO6DA2SP7zbaqplWGA5kLdRKr/l9xE/k8XA0kYNuUeTIivcx+39T0oayAmpC4SvJ7YzuWG5k9mJaIbDE4WjML/MxJvctCOQssd+ailwbIYnizkgOW5Nku21O0hDxe7CZ8l8Zq7sAvKmCL2EF0eRfzkajC1oWsxtZ3B9AeAl9ZEtJxY1ZysdR7IIk5rM7O1G+AeSgtasV9MW7VLWP+1rWcYtB+FnQHrWvtnFLPnKdU+cjO1qYVjM7gMI9jpmbBfPmgxRYrJnekhPiixPq7IWGhnvpMzl6Sg5wkHUlKey3cUPldGyGy6aZjgHYMqGhAJDsu6+L+Kl8IKAnJmSnHIsutbQMFtKFGd3do6NQ772ue/DESJKxciesWRod4vm7JOh77byhldCoxRoMdsGmgl0rYDhA+/Yy9kr7GUNUGsE5olR2OEyic3XtZUUBFAl+Sj1EfgKZGHP1833fBlgSp93IudNGBbsHth/f40pK20fxZEbBA2e1Ff/iXLGzJ8fY8rsVumGGNemaX10nTHWGXht/XnKBjp1txtR0pIgQTtSecFphJ31JB94R3QQjuDRXxEPO4Ml5Qp4o+xK3GKIXFJlDS6Jmk7YqDMaArM5h1QKgbtz1i9diGAXUuA5Xzq8/sMs226VY/BXdsA9XSCTMcGuFUS0+ltu2EhxuGR2OC2vuzThG127tuaj8ksgrjgkLXTw7kbefPnK5Wdw+YH7XmrnIxdKqAsNWo/Fiaf/Tb9HMOfbjXU+fuSp+ILuXGbK5cM5ee+mTloyj3P0Y36DSbETGYxu7KGD7LGdSqiR8pihXbigdNmyUaPPL+HAz64gO/r06TnQJMu9BOcsUsMXAUbEjdBG/jjqrjmwy78qChYH4B3VUl51yKEQCAmDIH8+fojTMDqpzO/ahPUV1z7z5Y0pNc4XxZ0nPusTPZJQQ5jPvS6syWICU9dvDknHW6q6rv/nVkQfOo141+bLJS1646nhS7ljg3380s8634yC7PenhMxffzoS8oF11/jUj9fPwh9h9SeJnDcNDLp+z1EUxWNoDAONC/3yDwN5L/amz0EWVT1orY4esfQYmI6P7GLW1pbA9bOB2QI8KnX3nGQWJY6JyijzTGt0B7oUGHsHBWKap8CUcZ4f9Vm/uMPcKlSXOLW+4/NHmDFrjbznCvo1KgtOm3iodODI0kTlsHq5DOhaF/7ckHJtrn/74JpVgueXVXJLefUzotCmdrwbNlYrAzDCp6tJzHe0qjl2ldj/EFOoFHIcp8r2EC5aOQiNkiS6fGHzj28re767ZKVrDRD16kVvcuns8iyj84gh907KCMTnc3HhxMe2zc4fGCIM/2yJf17Nk/FZ0xIW74g9Orh7D/mj+FjjubJ3xHMHeo565IYxuglwYVglGfz7XXMIcuNOmOkp9NvT9lIJi7egDUfS+eflm5IqD14449ByHvpdlzNSqV3iFHx41yByGNtVl7LNZniwAKdwcgdOmV04tgpF27solgXBK2hnYfl1FfXmrd56xwiLNKzcASI7t/ToW8yQgxIGVSmY3VqTNoP8GLypWw52BlR+Jxdysf5g0r+TWyHA5x84kHqlqtbCr4yTEQoHQGDIWwfYevli2mCbXWn2UGqJPIskR9TWmuv6TmQ84EV+GWeOJ3kWT1xG9VUgRkt9wambdE3d4ZmhdZmJutX5feCUbybYwr5Lw5OQoZoFxoHfd74OONjbBtuhU+XK+y7+cgpPJRIIc2BhmWFgfC1aXirWw+J2a3JbF8mZYkttViWUMOWWWKtc624iO9mqt8CZpa5jTjEnhz6FcrZAlJ4cnyR/D+IFOz0axw7LRxHjQNQr8Qj7qp6zivoKNRop41kIzVt44v58clrkE5YuOAOEJrRXj2df66PtbgKY421GGxyGo8Q7U2NglnJ8N+7IoYK3HQYWC/C+4K01jj5D1UJIk8MMp98R9A9tP0zk+UaRlWToDTlp2CbkG6ZwZE9JLHTfv0s3XjWJ4XecA/FgpFABu9ECBAMAvUjZyobkd3pObLBjzfPmJ4fMzVbK4m7ltwMHqhat/Vj8K8E+CajFSXqXOSvY4pYghKMZM0+/sRRbQBNu0k0v0WaGA7XxA+BixYi13KSaPQt5FDCq5D58cp2Fvdy0HvMFe3ya3l009xeAqzGh/MlniRzKUwrBg5nzUm/Tari7DbwrtrmHnYOSAZSMEe7eO0d3FoFBsrOPkva8rOrFlviKkMiifBFaRJUTPk6UM727YSuBqSH9iOLPQGlkYDm0TWokdqDKk6lj4m+ufLJDOBTN3c48e+erRkmca+5WWjp1yGLMXlX1kGLuUX9qYtJKrM4GVroThqZ9ySoEB5ZQ2xXnwwCC6lnw7lw+cn90Awur08/uT7VViWRe50LrN61TrnFmkc9D1kHpVEpO3UDa1btXkc79ZobWw+DvPUkYRlPSIiA9wxZMJ67T4TtavqqP8Z5b80+1n0l8A/rBv9m8LO9yIVZ6wWwCC1H78X4HeWhCqjZ64BXHGnU0GW/vTZJmOy6gvi3V/8E3/f1SAwpLM/htCmb1NFm7Nl1nyhYTRUsIyd6Ca5HfDEl1o7Blzp8/dcbwoNdcaT7ZnGmupZk2y19WNUDhCa9jyXAf80/1e/yK/djXwRXndFQZ1Lqk3Z2yZeBx3Mf7VV6ouLPgd9KotQV9Patv8HNEC349+LLfdLb9KVxtD2/7xYsvHXJLW6TCrz/NYveSef2//Jz25jVt87g8TvAp2V8FxGza9gGPS6/KmBCyt5IeLE7LZop70Fre4jaIJW/c8e5WvvAfDiZrE6ccvPheJYid/sohGK6YPLtkycav2/N0pB7/UaILA7t0XnwtHR6a9c0t8I0He9NPml4BfAv7/GfBWOI7gMvcTChR49d+JqlzBjMf8NUBPwgks9fNaFSHx/44iQUAfJDm6SM1SqCDxhPMrTdj6P++UkJjZNlKOiZ+N4/0J4zV3tTd2a8Ki/zM2qwx+OI7TzNE+TH/v32natsibvJiPJuvlBshrmstp2tvWlNXF/LlcQqJfqshLwC8B/98FXC++k2r/pdy+Y9TaXPU8wGpzR+ZPM159WPRiqTi834v5jv/HXyfkGoefn8Bd74RlzgxCSQEws3YCZsPlRCboS+UMzON8V/juTXq+sc+CEPw3Pe019RidDqM6ePf2CYGw8iCDVevE+w5XuNIgk/HaUP7E4vR+PybXHRMP5XYKxuT0c/UEb9Zd7oX64cHEpA/njQn+OmqCTTzcvfIXUp4Dc8e9kuuuTGxaqdgwtjJfRT2HbrFbNTYZXkJ6Cem/AlIbHuweewoRgWQN9bp3NJiHftqgla6MnP/i+O6E4cGVSD3Y7b4/g6d1uB8SoFu87744Q02vGH6ge7JX2F7rddI+VVRaO/vTPw7Vd5Gjp4Qd+AmLE235AxpXPmCpCQIjfrafLG5b8AcErrK4pGL3Qw3lD3xaucWY+A6WuV3v/Kq6ausfhox11f9LQOT0jF8PRTQ76adjiN7OjOrCmhdlXKUoLMZ8JSe8c827gXeex0+R/EHiUV3IWa1BL7XuJaT/IZAwtMoo59AG5z5r2o7RVS+3zb4keUnykuQlyUuSlyQvSV6SvCR5SfKS5CXJS5KXJC9J/lMS9wbqtsFv36uVBAc8t1N++OdNVIJVraQpYd8NKXTxOdh3f7+P0fT9Bny6SZOsbC/BvtfTa1ubI5wTiqX8d78y7eoQDX0vsP3qMbZB/uF/3R78ayrxyAGk7VGve3R1TcdwmVAkHb5CNXdkGm/lAm/z0AhqWEcvOEb1dKHoXLw5xBuy1Lk3jq/p20RvFzeJWala4F2Ec11/Mh+Bk9n7EgW1UEHiWmTv6TzAlxdqZYxN7Udyjqq8THf2bZ1h3cyMVwOSWaqQqr4EHyizWgFwtrto3bsFf/B6eq8BbMaXXBq9HYFPQtXE97l3vandx83wa+3JAqtGfcALz+h3b75ToPTdYVD9TDS7nzB8YUPtr5VdxjXExHT1F7aSAgPLXKNl3YkF+2oc0uihpUn+RnJqrdUok9mCy78a4bSXgYQvrPjQNnDsaAvo12sGC7b1dIZr3GK2Zg39ZG9V5HSZSGV/tX4Nrxio9gPGYOUcenyknNk18uXhKGmq4cEVfm1gVgsj02N35/1y9vBIucFAx+qSkaUUZrP7BQZp8F7518Fs9I/u42fezO4RR9lmiwoMBQqd4d0pdeJ4iUSSMNc6+0aheWMUGv9A7LTsKFTwRTUonJ1rFBujPCN4k12i39swc+nYK6zKkMjvWL1r1AlV77F55YOfhrjkJpyasrCSRyVhpjTcniWTbzscRf0gqyKekUd9Ejj1rLg8qp93KV9pTZrPpQbKT8HR5VNvwipB84LowuUZLkHR9xHRUoQcm05eSMQrBraUZ2xZdtDTh1XQa8XryDD0VlU+L50Zrv1ZrIa4xqiSk310t2qWWT691qvERX4/Dmcuu1zIYyHlTeEFSG17CpdLjw/5PKoei7PWG++MmlGrb1pSwpcBCnD7EcxHhXTM6h/pJxdJETuDiYQ3sdHl7ET06Gy1mVWvgFKW1XTAQviJNTTcyMKGOR0RJik/zNN9PMIsjg/ZRC0OvIt3nO0NipzJodSWyTg/idNXkePuoiLzqPJAQQg/d3lCWOjBYr69o4CeHD7UoDDsX8Q1eIF4oUEpr8uXri4bxafWdvRCUatMdsbMSnPt4fbuubuMmR/UNK273YFz2eHpXOTGjgGt8EYRy7Oosi1+o42RYYJIRfTBPPm9w1FV1xD8op338hTTimsrtTWhITSKGcktrlF0mL9ILS4+WGt0wfMZPu3Fml/rQFWap7ksOK7K5vV4V6XylqvHldHHEYTjbE9U3TPovrqIAnT1eo9iKM2fwlG9i/uQfY0ZMh/tbG5iWC0tg1dtoTi+bhQEquss1kVgAijNemLUXP6NlZMInHsTlYA1oiDhM0d7zpkRQ8+zte7Blqymg7WJ7iOhBh6SeWc5JerK3sGrh9spCunQWfRZQXZUewU9ub2M75IJRLyPAikefND4mJh/K962AlWXsU9HqdeHrJZCmTNlPuSbXGgRm7STiZg8BAsFVZi/oRJnmoV+08ifEzso4YtQTdLVpnQklJJ+DHCfcuR+YYTq3kBL44icZ9znU/WkUMfwUbrPAG/FJnqprdF3aUKa1iUdk9TlmTwbRC5HUsT5/tG9XYJ891p7kyZD1w+yUKkxGskZWJ48bt+hYd6rXiDQoqKYgeFcZYrtYRqM3C1eOKWBvj0sMknCGvF6o6AzmZg4konLus3ItO2Ylg1ZS2rD3WqNB76sVpAvTHlw6a4UucLvS2XYYGOfcUg4yBdSaexeMjJUtrAj2p6NztS6lBv1lnEeYs3hKHZL2wqXMla2Xc7sv6Fvztb2VtfcHVeYHFkyxipsROlen7MHmrkfHLBg+wcqLcldNVp7P98esif95FnLoF7M6z33RCfVVVpSWOq1phvb7tKwM3nv4+VdbXIylxcQzXP9K+u7oJF8Pl8ATDf7JvII89CJwiqlfqf4rla2W/MqjWiyw+QMWMPyo1Hz6nmX0Jk2CPip0w3VYCC95/krzCdCoZAbQNXaMbBcHdm3gXxerjnWy3L5Er9/Wmq8hQSg98kZ+U0fTlnNeQu2u5etU16ij1iEnaNKCjhvOrCXAVfryS6LaIwLWSQXCPmJkQ44M4qI4DQXFnG8C05jZwt4F58oh2semo3aJbS/4VBWNtdJXpK3HF3TvHej4QDWhUdhKNtypVxkW/r9mEm0WGT7Fcp1tqnJ2v2uZpcXSfvFfWTXkHIRf0bBrcD68zeYbTAcn0PjzkmyDT2CvV/aZb9cMO/UQsHbcFGBTrlHYehfYD2xMFZ0DN4A4DpSW8QhKCW3rR7w53j7g/0Z9f4C7ZNkEc/yy238PFcGsBesNAJQfGMw4xJEs5HObPS7TH9IcaYtHBMWekuBQkjCjmufA5NtIVCgiiwWJyz8GbgUm+FxS8Y2X+UPXL6QjmWahIJwjhVmO/PVKV8lheh5jPxJlDOEtlWt3+UWVSWEMWJpWVC6n4rE8axbV1AMXT/EWu9KHh7JY7W8UovXmtSRqzZM3/lRAnlsVuzmCQTf5zpz+kPjs8ZWSbNbLSChPswjIOW3veVx8A3TcxV8MJKbHMM6SSdsVyxPDGtLto3Eczm44U2p6gTKGcs2sKIB8NnwWnWchihCzAdO+QYKXq/etwmkjMmC0ql12rVKRMbj04PonLOMSGJR+xTGjV4r/bAdeeqsmGk7Ky/tzZgzpvFZF+nppj1zx76nvk393GRaO2aY/S6Xj+anbASRdXCwDTa3FGbXnXuNzymbncg7RNs9crkRkycvp7fFmVSXtlQq77ic3bH5CLNFDIISFyz2iRj7v0q7eKVAl0IxBex2imgqRdm7VsZiDFHuYwg3a5JNVaLavt6TRqZ+jaQrMDHEekU7emXQAAuJcSmY3xWvlnyu8+hKddef4JzhhLjOm5cFTektwlDhmNc9Vzt8JXGd0yMZ3jJwrJh801duCSr5HJslHRYsL1V/hCu5A+MgfAnfSR0+DeiAcc3KlQMY9t8WR/PkeopEKomijKhur1LIEvfBBFoDAgfucfVzZZoful2ukq1PY+uZN7non/Ml+nBjiGw9EUf7vt3n6ZtqMxi8GZ2RZ/2F8QvHdjwKMe7xzu8gJY48Q0yRc4LPdN2Ey+QGgyH72boLRhqprYQ64urN0/a4cgkuYWuZ8/pQ1JTqLuxHafbk3lXPxBrH9FNQo1fz4TiAsNdXFVVYbZh3X/OzGE7yVev/tVNDzKVSpP0p5WumNq19DtMA6VWSA5g7U7untNcJmzaueXBnROI1SbwEz24aj4OoIoHQwlsjwTsOHIkijFlD9qMoY8bWUf3RqFX3rxYVFIMRd0sxllWQ/qK4/Dq9ZlFJBbxvdGaOzx080s3amS5ytCMkI5yGIsjnyBUWW73+3XoFvdh94lLcvpkghblul4AHB7t/dD/cd4DdCijJRwb5yugmHGcQR3W/MNJ4aORpNoHpUHntrQh+VGnkK25LkXUDTmbUkr1y80PYU53qCTq+eSzq5tcvD+9ITB1Z9Vs0udR188bCGtp4PHEfKHig1rm8ZHrpjqWL5YJYcBlEPd/VRr6cL+IRDsgVPts7UHIpZMLY+j60MsfUALjuYNbzzgFtgBAFDkCYyw3u073Q5YLNS/rnOZj4jiC8bKt/RrZlR055bu8ghqwh5nDmz3cUNnXthetwZqSjE9nsyj4Uzqdezqe9Xo5HXq0Qt44/LUOy2WRPgqvN5Jy6vR45G22CUxaEr1w7iMkzinrZLgeAjhVdqO+cnZ2Suv1wbfj4ksTW6ylRqbXjPjzPlWte6hHEVqGsRBdYdTWa1bOmR7/TJy1eI5npSgZ7RByrSCm4ct0PRb4SzYuBqrpSdLuFModB5qg00P0qMTz+XSkJFeAyKp2TUSAz/3pm5yT/DaXlvydCbqlGXZnauTG1fXzS7zawB77vEVCrFlrD3JNWuoXao4/ZKm/6NlJEq911zUMN836gst4n2e8PZfhJ4xvBs89Wja+DfwcRphURfkA0GKBZ5ijBgGAsJuDGDTmV3nIVHqtSjkfT9Ef7p7YSforfYgpxRUjhFqi81GgFHx+gJ98Spx9/Drvk9bHFTp7I4nzdx2QyrW1aaatWlh7/W8I1qpKVjCVcNw7at2XY2lMNmIUdVZJC5BoCTX0UWBOrRfNbIOQFBtI14ECw+8DMTbaT+WpBQtV8q8UVReNbyLzwIraNH6shMvSh2mOOAx9zzGkcs266N7oczeN8/jilPLN9zRRsYURQN/SF2qyIrdcKDrE2RJ+LchR6jqfxKbbtPdN3Ia1uTDeaCcLoDE0vQ96y7mHX9rVjLzNnnxhmhAwWy0aKqZwRPueYJ9WvimMDOEz1QWCNvd/ooI26VAdnD5hC10J4F9e/jiXjVZaeh72u2mAGB9hloqMbUirbaKtsCCrSLEWF0xCGPKnhXVumzJxJTUxXRLbOwM5UFbTtMv/d9oUtfDbOxbdYqbD5+yOmuk+Pq+6Zd0Czu6Z3UyR7imFdGFzfCnZj2IeiumeamxLZgzZjB/On4o7DhcfqMjsGSwYN9SlgkJrlLij3hkDfFAR6nqjp3xTpzwDJ1bnzQGKGxgM3zC0tvqoUHt15mSvjYNl+OHaUV/EYXw6wmn4sxl2ePsrw/8l0LV/Rv+mcAyLJo8HuC5ZGKj451X16Znt1iuF9XQJ9e6qvu5w8lf1XFe1QnsAxdK5n7HTUSdkLUpu2Sp7++GbPtxO/bTY9YQN6rDAO3lyxR6rrderV4/V3RU44dhkSV+oKlM515a+Nld7zdwJ+tcG01e57As0lHMfI0OqxsdI+6y2qIDkqhULnVOW3k6fOQRe85b7+6ar1K8s+/vKf/wtQSwMEFAACAAgAd4z3SmigejpNAAAAawAAABsAAAB1bml2ZXJzYWwvdW5pdmVyc2FsLnBuZy54bWyzsa/IzVEoSy0qzszPs1Uy1DNQsrfj5bIpKEoty0wtV6gAihnpGUCAkkKlrZIJErc8M6UkA6jCwNgYIZiRmpmeUWKrZG5uChfUB5oJAFBLAQIAABQAAgAIAESUV0cjtE77+wIAALAIAAAUAAAAAAAAAAEAAAAAAAAAAAB1bml2ZXJzYWwvcGxheWVyLnhtbFBLAQIAABQAAgAIAHeM90qHb5M5aCsAALNWAAAXAAAAAAAAAAAAAAAAAC0DAAB1bml2ZXJzYWwvdW5pdmVyc2FsLnBuZ1BLAQIAABQAAgAIAHeM90pooHo6TQAAAGsAAAAbAAAAAAAAAAEAAAAAAMouAAB1bml2ZXJzYWwvdW5pdmVyc2FsLnBuZy54bWxQSwUGAAAAAAMAAwDQAAAAUC8AAAAA"/>
  <p:tag name="ISPRING_PRESENTATION_TITLE" val="年中工作汇报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1316</Words>
  <Application>Microsoft Office PowerPoint</Application>
  <PresentationFormat>宽屏</PresentationFormat>
  <Paragraphs>109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等线</vt:lpstr>
      <vt:lpstr>等线 Light</vt:lpstr>
      <vt:lpstr>Arial</vt:lpstr>
      <vt:lpstr>Century Gothic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_a fish</cp:lastModifiedBy>
  <cp:revision>124</cp:revision>
  <dcterms:created xsi:type="dcterms:W3CDTF">2018-06-01T23:46:00Z</dcterms:created>
  <dcterms:modified xsi:type="dcterms:W3CDTF">2026-01-09T08:56:18Z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8BD412146DE54C4394D3E0F497F0FE0A_13</vt:lpwstr>
  </property>
  <property fmtid="{D5CDD505-2E9C-101B-9397-08002B2CF9AE}" pid="3" name="KSOProductBuildVer">
    <vt:lpwstr>2052-12.1.0.24034</vt:lpwstr>
  </property>
</Properties>
</file>